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Playfair Display"/>
      <p:regular r:id="rId35"/>
      <p:bold r:id="rId36"/>
      <p:italic r:id="rId37"/>
      <p:boldItalic r:id="rId38"/>
    </p:embeddedFont>
    <p:embeddedFont>
      <p:font typeface="Montserrat"/>
      <p:regular r:id="rId39"/>
      <p:bold r:id="rId40"/>
      <p:italic r:id="rId41"/>
      <p:boldItalic r:id="rId42"/>
    </p:embeddedFont>
    <p:embeddedFont>
      <p:font typeface="Oswald"/>
      <p:regular r:id="rId43"/>
      <p:bold r:id="rId44"/>
    </p:embeddedFont>
    <p:embeddedFont>
      <p:font typeface="Playfair Display Black"/>
      <p:bold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5.xml"/><Relationship Id="rId42" Type="http://schemas.openxmlformats.org/officeDocument/2006/relationships/font" Target="fonts/Montserrat-boldItalic.fntdata"/><Relationship Id="rId41" Type="http://schemas.openxmlformats.org/officeDocument/2006/relationships/font" Target="fonts/Montserrat-italic.fntdata"/><Relationship Id="rId22" Type="http://schemas.openxmlformats.org/officeDocument/2006/relationships/slide" Target="slides/slide17.xml"/><Relationship Id="rId44" Type="http://schemas.openxmlformats.org/officeDocument/2006/relationships/font" Target="fonts/Oswald-bold.fntdata"/><Relationship Id="rId21" Type="http://schemas.openxmlformats.org/officeDocument/2006/relationships/slide" Target="slides/slide16.xml"/><Relationship Id="rId43" Type="http://schemas.openxmlformats.org/officeDocument/2006/relationships/font" Target="fonts/Oswald-regular.fntdata"/><Relationship Id="rId24" Type="http://schemas.openxmlformats.org/officeDocument/2006/relationships/slide" Target="slides/slide19.xml"/><Relationship Id="rId46" Type="http://schemas.openxmlformats.org/officeDocument/2006/relationships/font" Target="fonts/PlayfairDisplayBlack-boldItalic.fntdata"/><Relationship Id="rId23" Type="http://schemas.openxmlformats.org/officeDocument/2006/relationships/slide" Target="slides/slide18.xml"/><Relationship Id="rId45" Type="http://schemas.openxmlformats.org/officeDocument/2006/relationships/font" Target="fonts/PlayfairDisplay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layfairDisplay-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layfairDisplay-italic.fntdata"/><Relationship Id="rId14" Type="http://schemas.openxmlformats.org/officeDocument/2006/relationships/slide" Target="slides/slide9.xml"/><Relationship Id="rId36" Type="http://schemas.openxmlformats.org/officeDocument/2006/relationships/font" Target="fonts/PlayfairDisplay-bold.fntdata"/><Relationship Id="rId17" Type="http://schemas.openxmlformats.org/officeDocument/2006/relationships/slide" Target="slides/slide12.xml"/><Relationship Id="rId39" Type="http://schemas.openxmlformats.org/officeDocument/2006/relationships/font" Target="fonts/Montserrat-regular.fntdata"/><Relationship Id="rId16" Type="http://schemas.openxmlformats.org/officeDocument/2006/relationships/slide" Target="slides/slide11.xml"/><Relationship Id="rId38" Type="http://schemas.openxmlformats.org/officeDocument/2006/relationships/font" Target="fonts/PlayfairDisplay-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a0de81e5d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a0de81e5d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0de81e5d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0de81e5d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0de81e5d1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0de81e5d1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0de81e5d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0de81e5d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0de81e5d1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a0de81e5d1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a0de81e5d1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a0de81e5d1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0de81e5d1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0de81e5d1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0de81e5d1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0de81e5d1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0de81e5d1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0de81e5d1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0de81e5d1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0de81e5d1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0de81e5d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0de81e5d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0de81e5d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0de81e5d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90a5ac72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90a5ac72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0de81e5d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0de81e5d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0de81e5d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0de81e5d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0de81e5d1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a0de81e5d1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0de81e5d1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0de81e5d1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0de81e5d1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0de81e5d1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0de81e5d1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0de81e5d1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0de81e5d1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0de81e5d1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0de81e5d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0de81e5d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a0de81e5d1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a0de81e5d1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0de81e5d1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0de81e5d1_1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0de81e5d1_1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0de81e5d1_1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0de81e5d1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0de81e5d1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0de81e5d1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0de81e5d1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0de81e5d1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0de81e5d1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0de81e5d1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0de81e5d1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Labmon</a:t>
            </a:r>
            <a:endParaRPr/>
          </a:p>
        </p:txBody>
      </p:sp>
      <p:sp>
        <p:nvSpPr>
          <p:cNvPr id="59" name="Google Shape;59;p13"/>
          <p:cNvSpPr txBox="1"/>
          <p:nvPr>
            <p:ph idx="1" type="subTitle"/>
          </p:nvPr>
        </p:nvSpPr>
        <p:spPr>
          <a:xfrm>
            <a:off x="344250" y="3550650"/>
            <a:ext cx="4910100" cy="9153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b="0" lang="it" sz="1200">
                <a:latin typeface="Playfair Display"/>
                <a:ea typeface="Playfair Display"/>
                <a:cs typeface="Playfair Display"/>
                <a:sym typeface="Playfair Display"/>
              </a:rPr>
              <a:t>Cecilia Agosta – 1850965 </a:t>
            </a:r>
            <a:endParaRPr b="0" sz="1200">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rPr b="0" lang="it" sz="1200">
                <a:latin typeface="Playfair Display"/>
                <a:ea typeface="Playfair Display"/>
                <a:cs typeface="Playfair Display"/>
                <a:sym typeface="Playfair Display"/>
              </a:rPr>
              <a:t>Stella Condrò – 1906886 </a:t>
            </a:r>
            <a:endParaRPr b="0" sz="1200">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rPr b="0" lang="it" sz="1200">
                <a:latin typeface="Playfair Display"/>
                <a:ea typeface="Playfair Display"/>
                <a:cs typeface="Playfair Display"/>
                <a:sym typeface="Playfair Display"/>
              </a:rPr>
              <a:t>Valerio Liberati – 1849590</a:t>
            </a:r>
            <a:endParaRPr b="0">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44250" y="392500"/>
            <a:ext cx="8455500" cy="3192900"/>
          </a:xfrm>
          <a:prstGeom prst="rect">
            <a:avLst/>
          </a:prstGeom>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0" lang="it" sz="1500"/>
              <a:t>Labmon is a monster collector browser game, in which players can collect creatures by attempting captures during unique encounters. The encounter generation and rarity of the encounter is time-based, rewarding the player’s patience with better monsters. Players can earn in-game currency by catching monsters, completing collections, and sharding duplicates.</a:t>
            </a:r>
            <a:endParaRPr b="0" sz="1500"/>
          </a:p>
          <a:p>
            <a:pPr indent="0" lvl="0" marL="0" rtl="0" algn="l">
              <a:lnSpc>
                <a:spcPct val="115000"/>
              </a:lnSpc>
              <a:spcBef>
                <a:spcPts val="1200"/>
              </a:spcBef>
              <a:spcAft>
                <a:spcPts val="0"/>
              </a:spcAft>
              <a:buClr>
                <a:schemeClr val="dk2"/>
              </a:buClr>
              <a:buSzPts val="1100"/>
              <a:buFont typeface="Arial"/>
              <a:buNone/>
            </a:pPr>
            <a:r>
              <a:rPr b="0" lang="it" sz="1500"/>
              <a:t>Our aim with the app is to encourage users to work from their laptop while also taking time to rest from their activities. Less interaction means better rewards in terms of monster rarity, while still having something to look forward to when taking a break.</a:t>
            </a:r>
            <a:endParaRPr b="0" sz="1500"/>
          </a:p>
          <a:p>
            <a:pPr indent="0" lvl="0" marL="0" rtl="0" algn="ctr">
              <a:spcBef>
                <a:spcPts val="0"/>
              </a:spcBef>
              <a:spcAft>
                <a:spcPts val="0"/>
              </a:spcAft>
              <a:buNone/>
            </a:pPr>
            <a:r>
              <a:t/>
            </a:r>
            <a:endParaRPr b="0" sz="700"/>
          </a:p>
        </p:txBody>
      </p:sp>
      <p:sp>
        <p:nvSpPr>
          <p:cNvPr id="65" name="Google Shape;65;p14"/>
          <p:cNvSpPr txBox="1"/>
          <p:nvPr>
            <p:ph idx="4294967295" type="subTitle"/>
          </p:nvPr>
        </p:nvSpPr>
        <p:spPr>
          <a:xfrm>
            <a:off x="344250" y="3932550"/>
            <a:ext cx="4910100" cy="915300"/>
          </a:xfrm>
          <a:prstGeom prst="rect">
            <a:avLst/>
          </a:prstGeom>
          <a:solidFill>
            <a:schemeClr val="dk2"/>
          </a:solidFill>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3500">
                <a:solidFill>
                  <a:schemeClr val="lt1"/>
                </a:solidFill>
                <a:latin typeface="Playfair Display Black"/>
                <a:ea typeface="Playfair Display Black"/>
                <a:cs typeface="Playfair Display Black"/>
                <a:sym typeface="Playfair Display Black"/>
              </a:rPr>
              <a:t>What is Labmon?</a:t>
            </a:r>
            <a:endParaRPr sz="4100">
              <a:solidFill>
                <a:schemeClr val="lt1"/>
              </a:solidFill>
              <a:latin typeface="Playfair Display Black"/>
              <a:ea typeface="Playfair Display Black"/>
              <a:cs typeface="Playfair Display Black"/>
              <a:sym typeface="Playfair Display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it"/>
              <a:t>Key Features</a:t>
            </a:r>
            <a:endParaRPr/>
          </a:p>
        </p:txBody>
      </p:sp>
      <p:sp>
        <p:nvSpPr>
          <p:cNvPr id="71" name="Google Shape;71;p15"/>
          <p:cNvSpPr txBox="1"/>
          <p:nvPr>
            <p:ph idx="1" type="body"/>
          </p:nvPr>
        </p:nvSpPr>
        <p:spPr>
          <a:xfrm>
            <a:off x="311700" y="1234075"/>
            <a:ext cx="8520600" cy="3334800"/>
          </a:xfrm>
          <a:prstGeom prst="rect">
            <a:avLst/>
          </a:prstGeom>
        </p:spPr>
        <p:txBody>
          <a:bodyPr anchorCtr="0" anchor="ctr" bIns="91425" lIns="91425" spcFirstLastPara="1" rIns="91425" wrap="square" tIns="91425">
            <a:normAutofit/>
          </a:bodyPr>
          <a:lstStyle/>
          <a:p>
            <a:pPr indent="-361950" lvl="0" marL="457200" rtl="0" algn="l">
              <a:lnSpc>
                <a:spcPct val="150000"/>
              </a:lnSpc>
              <a:spcBef>
                <a:spcPts val="0"/>
              </a:spcBef>
              <a:spcAft>
                <a:spcPts val="0"/>
              </a:spcAft>
              <a:buSzPts val="2100"/>
              <a:buChar char="★"/>
            </a:pPr>
            <a:r>
              <a:rPr lang="it" sz="2100"/>
              <a:t>Login</a:t>
            </a:r>
            <a:r>
              <a:rPr lang="it" sz="2100"/>
              <a:t> and authentication</a:t>
            </a:r>
            <a:endParaRPr sz="2100"/>
          </a:p>
          <a:p>
            <a:pPr indent="-361950" lvl="0" marL="457200" rtl="0" algn="l">
              <a:lnSpc>
                <a:spcPct val="150000"/>
              </a:lnSpc>
              <a:spcBef>
                <a:spcPts val="0"/>
              </a:spcBef>
              <a:spcAft>
                <a:spcPts val="0"/>
              </a:spcAft>
              <a:buSzPts val="2100"/>
              <a:buChar char="★"/>
            </a:pPr>
            <a:r>
              <a:rPr lang="it" sz="2100"/>
              <a:t>User profile management</a:t>
            </a:r>
            <a:endParaRPr sz="2100"/>
          </a:p>
          <a:p>
            <a:pPr indent="-361950" lvl="0" marL="457200" rtl="0" algn="l">
              <a:lnSpc>
                <a:spcPct val="150000"/>
              </a:lnSpc>
              <a:spcBef>
                <a:spcPts val="0"/>
              </a:spcBef>
              <a:spcAft>
                <a:spcPts val="0"/>
              </a:spcAft>
              <a:buSzPts val="2100"/>
              <a:buChar char="★"/>
            </a:pPr>
            <a:r>
              <a:rPr lang="it" sz="2100"/>
              <a:t>Encounter generation and monster capture for players</a:t>
            </a:r>
            <a:endParaRPr sz="2100"/>
          </a:p>
          <a:p>
            <a:pPr indent="-361950" lvl="0" marL="457200" rtl="0" algn="l">
              <a:lnSpc>
                <a:spcPct val="150000"/>
              </a:lnSpc>
              <a:spcBef>
                <a:spcPts val="0"/>
              </a:spcBef>
              <a:spcAft>
                <a:spcPts val="0"/>
              </a:spcAft>
              <a:buSzPts val="2100"/>
              <a:buChar char="★"/>
            </a:pPr>
            <a:r>
              <a:rPr lang="it" sz="2100"/>
              <a:t>Updating of game data for administrators</a:t>
            </a:r>
            <a:endParaRPr sz="2100"/>
          </a:p>
          <a:p>
            <a:pPr indent="-361950" lvl="0" marL="457200" rtl="0" algn="l">
              <a:lnSpc>
                <a:spcPct val="150000"/>
              </a:lnSpc>
              <a:spcBef>
                <a:spcPts val="0"/>
              </a:spcBef>
              <a:spcAft>
                <a:spcPts val="0"/>
              </a:spcAft>
              <a:buSzPts val="2100"/>
              <a:buChar char="★"/>
            </a:pPr>
            <a:r>
              <a:rPr lang="it" sz="2100"/>
              <a:t>In-game timer for keeping track of time</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User stories and Mock Up</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265025"/>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Authentication</a:t>
            </a:r>
            <a:endParaRPr/>
          </a:p>
        </p:txBody>
      </p:sp>
      <p:sp>
        <p:nvSpPr>
          <p:cNvPr id="82" name="Google Shape;82;p17"/>
          <p:cNvSpPr txBox="1"/>
          <p:nvPr>
            <p:ph idx="1" type="body"/>
          </p:nvPr>
        </p:nvSpPr>
        <p:spPr>
          <a:xfrm>
            <a:off x="311700" y="1107125"/>
            <a:ext cx="8255700" cy="35574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2"/>
              </a:buClr>
              <a:buSzPct val="27500"/>
              <a:buFont typeface="Arial"/>
              <a:buNone/>
            </a:pPr>
            <a:r>
              <a:rPr lang="it" sz="4000"/>
              <a:t>1. As a Player, I want to register in the site, so that I can access the system  </a:t>
            </a:r>
            <a:endParaRPr sz="4000"/>
          </a:p>
          <a:p>
            <a:pPr indent="0" lvl="0" marL="0" rtl="0" algn="l">
              <a:spcBef>
                <a:spcPts val="1200"/>
              </a:spcBef>
              <a:spcAft>
                <a:spcPts val="0"/>
              </a:spcAft>
              <a:buClr>
                <a:schemeClr val="dk2"/>
              </a:buClr>
              <a:buSzPct val="27500"/>
              <a:buFont typeface="Arial"/>
              <a:buNone/>
            </a:pPr>
            <a:r>
              <a:rPr lang="it" sz="4000"/>
              <a:t>2. As a Player, I want to login in the site, so that I can use the system  </a:t>
            </a:r>
            <a:endParaRPr sz="4000"/>
          </a:p>
          <a:p>
            <a:pPr indent="0" lvl="0" marL="0" rtl="0" algn="l">
              <a:spcBef>
                <a:spcPts val="1200"/>
              </a:spcBef>
              <a:spcAft>
                <a:spcPts val="0"/>
              </a:spcAft>
              <a:buClr>
                <a:schemeClr val="dk2"/>
              </a:buClr>
              <a:buSzPct val="27500"/>
              <a:buFont typeface="Arial"/>
              <a:buNone/>
            </a:pPr>
            <a:r>
              <a:rPr lang="it" sz="4000"/>
              <a:t>3. As a Player, I want to not put my credentials in the site every time a reload the site, so that I can use the site  </a:t>
            </a:r>
            <a:endParaRPr sz="4000"/>
          </a:p>
          <a:p>
            <a:pPr indent="0" lvl="0" marL="0" rtl="0" algn="l">
              <a:spcBef>
                <a:spcPts val="1200"/>
              </a:spcBef>
              <a:spcAft>
                <a:spcPts val="0"/>
              </a:spcAft>
              <a:buClr>
                <a:schemeClr val="dk2"/>
              </a:buClr>
              <a:buSzPct val="27500"/>
              <a:buFont typeface="Arial"/>
              <a:buNone/>
            </a:pPr>
            <a:r>
              <a:rPr lang="it" sz="4000"/>
              <a:t>4. As a Player, I want to logout, so that no one else can use my account  </a:t>
            </a:r>
            <a:endParaRPr sz="4000"/>
          </a:p>
          <a:p>
            <a:pPr indent="0" lvl="0" marL="0" rtl="0" algn="l">
              <a:spcBef>
                <a:spcPts val="1200"/>
              </a:spcBef>
              <a:spcAft>
                <a:spcPts val="0"/>
              </a:spcAft>
              <a:buClr>
                <a:schemeClr val="dk2"/>
              </a:buClr>
              <a:buSzPct val="27500"/>
              <a:buFont typeface="Arial"/>
              <a:buNone/>
            </a:pPr>
            <a:r>
              <a:rPr lang="it" sz="4000"/>
              <a:t>5. As a Player, I want to access my account, so that I can edit my personal information  </a:t>
            </a:r>
            <a:endParaRPr sz="4000"/>
          </a:p>
          <a:p>
            <a:pPr indent="0" lvl="0" marL="0" rtl="0" algn="l">
              <a:spcBef>
                <a:spcPts val="1200"/>
              </a:spcBef>
              <a:spcAft>
                <a:spcPts val="0"/>
              </a:spcAft>
              <a:buNone/>
            </a:pPr>
            <a:r>
              <a:rPr lang="it" sz="4000"/>
              <a:t>6. As a Player, I want to access my account, so that I can delete my personal information  </a:t>
            </a:r>
            <a:endParaRPr sz="4000"/>
          </a:p>
          <a:p>
            <a:pPr indent="0" lvl="0" marL="0" rtl="0" algn="l">
              <a:spcBef>
                <a:spcPts val="1200"/>
              </a:spcBef>
              <a:spcAft>
                <a:spcPts val="0"/>
              </a:spcAft>
              <a:buNone/>
            </a:pPr>
            <a:r>
              <a:rPr lang="it" sz="4000"/>
              <a:t>7. As an Admin, I want to login in the site, so that I can manage the system  </a:t>
            </a:r>
            <a:endParaRPr sz="4000"/>
          </a:p>
          <a:p>
            <a:pPr indent="0" lvl="0" marL="0" rtl="0" algn="l">
              <a:spcBef>
                <a:spcPts val="1200"/>
              </a:spcBef>
              <a:spcAft>
                <a:spcPts val="0"/>
              </a:spcAft>
              <a:buNone/>
            </a:pPr>
            <a:r>
              <a:rPr lang="it" sz="4000"/>
              <a:t>8. As an Admin, I want to not put my credentials in the site every time a reload the site, so that I can use the site  </a:t>
            </a:r>
            <a:endParaRPr sz="4000"/>
          </a:p>
          <a:p>
            <a:pPr indent="0" lvl="0" marL="0" rtl="0" algn="l">
              <a:spcBef>
                <a:spcPts val="1200"/>
              </a:spcBef>
              <a:spcAft>
                <a:spcPts val="0"/>
              </a:spcAft>
              <a:buNone/>
            </a:pPr>
            <a:r>
              <a:rPr lang="it" sz="4000"/>
              <a:t>9. As an Admin, I want to logout, so that no one else can use my account  </a:t>
            </a:r>
            <a:endParaRPr sz="4000"/>
          </a:p>
          <a:p>
            <a:pPr indent="0" lvl="0" marL="0" rtl="0" algn="l">
              <a:spcBef>
                <a:spcPts val="1200"/>
              </a:spcBef>
              <a:spcAft>
                <a:spcPts val="0"/>
              </a:spcAft>
              <a:buNone/>
            </a:pPr>
            <a:r>
              <a:rPr lang="it" sz="4000"/>
              <a:t>10. As an Admin, I want to access my account, so that I can edit my personal information  </a:t>
            </a:r>
            <a:endParaRPr sz="4000"/>
          </a:p>
          <a:p>
            <a:pPr indent="0" lvl="0" marL="0" rtl="0" algn="l">
              <a:spcBef>
                <a:spcPts val="1200"/>
              </a:spcBef>
              <a:spcAft>
                <a:spcPts val="0"/>
              </a:spcAft>
              <a:buNone/>
            </a:pPr>
            <a:r>
              <a:rPr lang="it" sz="4000"/>
              <a:t>11. As an Admin, I want to access my account, so that I can delete my personal information  </a:t>
            </a:r>
            <a:endParaRPr sz="4000"/>
          </a:p>
          <a:p>
            <a:pPr indent="0" lvl="0" marL="0" rtl="0" algn="l">
              <a:spcBef>
                <a:spcPts val="1200"/>
              </a:spcBef>
              <a:spcAft>
                <a:spcPts val="0"/>
              </a:spcAft>
              <a:buNone/>
            </a:pPr>
            <a:r>
              <a:rPr lang="it" sz="4000"/>
              <a:t>12. As an Admin, I want a secure dashboard, so that only authorized admins can manage content </a:t>
            </a:r>
            <a:r>
              <a:rPr lang="it" sz="4800"/>
              <a:t> </a:t>
            </a:r>
            <a:endParaRPr sz="4800"/>
          </a:p>
          <a:p>
            <a:pPr indent="0" lvl="0" marL="0" rtl="0" algn="l">
              <a:spcBef>
                <a:spcPts val="1200"/>
              </a:spcBef>
              <a:spcAft>
                <a:spcPts val="0"/>
              </a:spcAft>
              <a:buClr>
                <a:schemeClr val="dk2"/>
              </a:buClr>
              <a:buSzPct val="91666"/>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it" sz="2400"/>
              <a:t>Authentication</a:t>
            </a:r>
            <a:endParaRPr/>
          </a:p>
        </p:txBody>
      </p:sp>
      <p:pic>
        <p:nvPicPr>
          <p:cNvPr id="88" name="Google Shape;88;p18"/>
          <p:cNvPicPr preferRelativeResize="0"/>
          <p:nvPr/>
        </p:nvPicPr>
        <p:blipFill>
          <a:blip r:embed="rId3">
            <a:alphaModFix/>
          </a:blip>
          <a:stretch>
            <a:fillRect/>
          </a:stretch>
        </p:blipFill>
        <p:spPr>
          <a:xfrm>
            <a:off x="352862" y="1713488"/>
            <a:ext cx="2642976" cy="1716526"/>
          </a:xfrm>
          <a:prstGeom prst="rect">
            <a:avLst/>
          </a:prstGeom>
          <a:noFill/>
          <a:ln>
            <a:noFill/>
          </a:ln>
        </p:spPr>
      </p:pic>
      <p:pic>
        <p:nvPicPr>
          <p:cNvPr id="89" name="Google Shape;89;p18"/>
          <p:cNvPicPr preferRelativeResize="0"/>
          <p:nvPr/>
        </p:nvPicPr>
        <p:blipFill>
          <a:blip r:embed="rId4">
            <a:alphaModFix/>
          </a:blip>
          <a:stretch>
            <a:fillRect/>
          </a:stretch>
        </p:blipFill>
        <p:spPr>
          <a:xfrm>
            <a:off x="3220300" y="1713488"/>
            <a:ext cx="2703399" cy="1755774"/>
          </a:xfrm>
          <a:prstGeom prst="rect">
            <a:avLst/>
          </a:prstGeom>
          <a:noFill/>
          <a:ln>
            <a:noFill/>
          </a:ln>
        </p:spPr>
      </p:pic>
      <p:pic>
        <p:nvPicPr>
          <p:cNvPr id="90" name="Google Shape;90;p18"/>
          <p:cNvPicPr preferRelativeResize="0"/>
          <p:nvPr/>
        </p:nvPicPr>
        <p:blipFill>
          <a:blip r:embed="rId5">
            <a:alphaModFix/>
          </a:blip>
          <a:stretch>
            <a:fillRect/>
          </a:stretch>
        </p:blipFill>
        <p:spPr>
          <a:xfrm>
            <a:off x="6189300" y="1733100"/>
            <a:ext cx="2642999" cy="171653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Encounter</a:t>
            </a:r>
            <a:endParaRPr/>
          </a:p>
        </p:txBody>
      </p:sp>
      <p:sp>
        <p:nvSpPr>
          <p:cNvPr id="96" name="Google Shape;96;p19"/>
          <p:cNvSpPr txBox="1"/>
          <p:nvPr>
            <p:ph idx="1" type="body"/>
          </p:nvPr>
        </p:nvSpPr>
        <p:spPr>
          <a:xfrm>
            <a:off x="311700" y="1389600"/>
            <a:ext cx="35127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it"/>
              <a:t>13</a:t>
            </a:r>
            <a:r>
              <a:rPr lang="it"/>
              <a:t>. As a Player, I want to generate an encounter with a monster, so that I can try to catch it  </a:t>
            </a:r>
            <a:endParaRPr/>
          </a:p>
          <a:p>
            <a:pPr indent="0" lvl="0" marL="0" rtl="0" algn="l">
              <a:spcBef>
                <a:spcPts val="1200"/>
              </a:spcBef>
              <a:spcAft>
                <a:spcPts val="0"/>
              </a:spcAft>
              <a:buClr>
                <a:schemeClr val="dk2"/>
              </a:buClr>
              <a:buSzPts val="1100"/>
              <a:buFont typeface="Arial"/>
              <a:buNone/>
            </a:pPr>
            <a:r>
              <a:rPr lang="it"/>
              <a:t>14. As a Player, I want to try to catch a monster, so that I can add it to my collection  </a:t>
            </a:r>
            <a:endParaRPr/>
          </a:p>
          <a:p>
            <a:pPr indent="0" lvl="0" marL="0" rtl="0" algn="l">
              <a:spcBef>
                <a:spcPts val="1200"/>
              </a:spcBef>
              <a:spcAft>
                <a:spcPts val="0"/>
              </a:spcAft>
              <a:buNone/>
            </a:pPr>
            <a:r>
              <a:rPr lang="it"/>
              <a:t>15. As a Player, I want to use my items in an encounter, so that I can increase my chances of capturing the monster</a:t>
            </a:r>
            <a:endParaRPr/>
          </a:p>
          <a:p>
            <a:pPr indent="0" lvl="0" marL="0" rtl="0" algn="l">
              <a:spcBef>
                <a:spcPts val="1200"/>
              </a:spcBef>
              <a:spcAft>
                <a:spcPts val="1200"/>
              </a:spcAft>
              <a:buNone/>
            </a:pPr>
            <a:r>
              <a:rPr lang="it"/>
              <a:t>16. As a Player, I want to see how much time has passed from the last encounter, so that I can choose the best moment to trigger a rare encounter </a:t>
            </a:r>
            <a:endParaRPr/>
          </a:p>
        </p:txBody>
      </p:sp>
      <p:pic>
        <p:nvPicPr>
          <p:cNvPr id="97" name="Google Shape;97;p19"/>
          <p:cNvPicPr preferRelativeResize="0"/>
          <p:nvPr/>
        </p:nvPicPr>
        <p:blipFill>
          <a:blip r:embed="rId3">
            <a:alphaModFix/>
          </a:blip>
          <a:stretch>
            <a:fillRect/>
          </a:stretch>
        </p:blipFill>
        <p:spPr>
          <a:xfrm>
            <a:off x="5152325" y="1311300"/>
            <a:ext cx="2422999" cy="1573650"/>
          </a:xfrm>
          <a:prstGeom prst="rect">
            <a:avLst/>
          </a:prstGeom>
          <a:noFill/>
          <a:ln>
            <a:noFill/>
          </a:ln>
        </p:spPr>
      </p:pic>
      <p:pic>
        <p:nvPicPr>
          <p:cNvPr id="98" name="Google Shape;98;p19"/>
          <p:cNvPicPr preferRelativeResize="0"/>
          <p:nvPr/>
        </p:nvPicPr>
        <p:blipFill>
          <a:blip r:embed="rId4">
            <a:alphaModFix/>
          </a:blip>
          <a:stretch>
            <a:fillRect/>
          </a:stretch>
        </p:blipFill>
        <p:spPr>
          <a:xfrm>
            <a:off x="5152325" y="2995357"/>
            <a:ext cx="2422999" cy="157364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2"/>
              </a:buClr>
              <a:buSzPts val="1100"/>
              <a:buFont typeface="Arial"/>
              <a:buNone/>
            </a:pPr>
            <a:r>
              <a:rPr lang="it"/>
              <a:t>Admin Page</a:t>
            </a:r>
            <a:endParaRPr/>
          </a:p>
        </p:txBody>
      </p:sp>
      <p:sp>
        <p:nvSpPr>
          <p:cNvPr id="104" name="Google Shape;104;p20"/>
          <p:cNvSpPr txBox="1"/>
          <p:nvPr>
            <p:ph idx="1" type="body"/>
          </p:nvPr>
        </p:nvSpPr>
        <p:spPr>
          <a:xfrm>
            <a:off x="311700" y="1389600"/>
            <a:ext cx="2808000" cy="3179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2"/>
              </a:buClr>
              <a:buSzPts val="1100"/>
              <a:buFont typeface="Arial"/>
              <a:buNone/>
            </a:pPr>
            <a:r>
              <a:rPr lang="it"/>
              <a:t>17</a:t>
            </a:r>
            <a:r>
              <a:rPr lang="it"/>
              <a:t>. As an Admin, I want to see all users' accounts, so that I can have a clear view of the people in the system  </a:t>
            </a:r>
            <a:endParaRPr/>
          </a:p>
          <a:p>
            <a:pPr indent="0" lvl="0" marL="0" rtl="0" algn="l">
              <a:spcBef>
                <a:spcPts val="1200"/>
              </a:spcBef>
              <a:spcAft>
                <a:spcPts val="0"/>
              </a:spcAft>
              <a:buClr>
                <a:schemeClr val="dk2"/>
              </a:buClr>
              <a:buSzPts val="1100"/>
              <a:buFont typeface="Arial"/>
              <a:buNone/>
            </a:pPr>
            <a:r>
              <a:rPr lang="it"/>
              <a:t>18. As an Admin, I want to edit users' accounts, so that I can help users in managing their personal information  </a:t>
            </a:r>
            <a:endParaRPr/>
          </a:p>
          <a:p>
            <a:pPr indent="0" lvl="0" marL="0" rtl="0" algn="l">
              <a:spcBef>
                <a:spcPts val="1200"/>
              </a:spcBef>
              <a:spcAft>
                <a:spcPts val="0"/>
              </a:spcAft>
              <a:buClr>
                <a:schemeClr val="dk2"/>
              </a:buClr>
              <a:buSzPts val="1100"/>
              <a:buFont typeface="Arial"/>
              <a:buNone/>
            </a:pPr>
            <a:r>
              <a:rPr lang="it"/>
              <a:t>19. As an Admin, I want to delete users' accounts, so that I can remove malicious users from the system  </a:t>
            </a:r>
            <a:endParaRPr/>
          </a:p>
          <a:p>
            <a:pPr indent="0" lvl="0" marL="0" rtl="0" algn="l">
              <a:spcBef>
                <a:spcPts val="1200"/>
              </a:spcBef>
              <a:spcAft>
                <a:spcPts val="0"/>
              </a:spcAft>
              <a:buClr>
                <a:schemeClr val="dk2"/>
              </a:buClr>
              <a:buSzPts val="1100"/>
              <a:buFont typeface="Arial"/>
              <a:buNone/>
            </a:pPr>
            <a:r>
              <a:rPr lang="it"/>
              <a:t>20. As an Admin, I want to create new users, so that I can add new admins or users to the system  </a:t>
            </a:r>
            <a:endParaRPr/>
          </a:p>
          <a:p>
            <a:pPr indent="0" lvl="0" marL="0" rtl="0" algn="l">
              <a:spcBef>
                <a:spcPts val="1200"/>
              </a:spcBef>
              <a:spcAft>
                <a:spcPts val="1200"/>
              </a:spcAft>
              <a:buNone/>
            </a:pPr>
            <a:r>
              <a:t/>
            </a:r>
            <a:endParaRPr/>
          </a:p>
        </p:txBody>
      </p:sp>
      <p:pic>
        <p:nvPicPr>
          <p:cNvPr id="105" name="Google Shape;105;p20"/>
          <p:cNvPicPr preferRelativeResize="0"/>
          <p:nvPr/>
        </p:nvPicPr>
        <p:blipFill>
          <a:blip r:embed="rId3">
            <a:alphaModFix/>
          </a:blip>
          <a:stretch>
            <a:fillRect/>
          </a:stretch>
        </p:blipFill>
        <p:spPr>
          <a:xfrm>
            <a:off x="3199688" y="895225"/>
            <a:ext cx="2744624" cy="1782551"/>
          </a:xfrm>
          <a:prstGeom prst="rect">
            <a:avLst/>
          </a:prstGeom>
          <a:noFill/>
          <a:ln>
            <a:noFill/>
          </a:ln>
        </p:spPr>
      </p:pic>
      <p:pic>
        <p:nvPicPr>
          <p:cNvPr id="106" name="Google Shape;106;p20"/>
          <p:cNvPicPr preferRelativeResize="0"/>
          <p:nvPr/>
        </p:nvPicPr>
        <p:blipFill>
          <a:blip r:embed="rId4">
            <a:alphaModFix/>
          </a:blip>
          <a:stretch>
            <a:fillRect/>
          </a:stretch>
        </p:blipFill>
        <p:spPr>
          <a:xfrm>
            <a:off x="6231525" y="895223"/>
            <a:ext cx="2744601" cy="1782551"/>
          </a:xfrm>
          <a:prstGeom prst="rect">
            <a:avLst/>
          </a:prstGeom>
          <a:noFill/>
          <a:ln>
            <a:noFill/>
          </a:ln>
        </p:spPr>
      </p:pic>
      <p:pic>
        <p:nvPicPr>
          <p:cNvPr id="107" name="Google Shape;107;p20"/>
          <p:cNvPicPr preferRelativeResize="0"/>
          <p:nvPr/>
        </p:nvPicPr>
        <p:blipFill>
          <a:blip r:embed="rId5">
            <a:alphaModFix/>
          </a:blip>
          <a:stretch>
            <a:fillRect/>
          </a:stretch>
        </p:blipFill>
        <p:spPr>
          <a:xfrm>
            <a:off x="3199700" y="2885852"/>
            <a:ext cx="2744601" cy="17825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Admin Page</a:t>
            </a:r>
            <a:endParaRPr/>
          </a:p>
        </p:txBody>
      </p:sp>
      <p:sp>
        <p:nvSpPr>
          <p:cNvPr id="113" name="Google Shape;113;p21"/>
          <p:cNvSpPr txBox="1"/>
          <p:nvPr>
            <p:ph idx="1" type="body"/>
          </p:nvPr>
        </p:nvSpPr>
        <p:spPr>
          <a:xfrm>
            <a:off x="311700" y="1389600"/>
            <a:ext cx="8137800" cy="3179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2"/>
              </a:buClr>
              <a:buSzPct val="77151"/>
              <a:buFont typeface="Arial"/>
              <a:buNone/>
            </a:pPr>
            <a:r>
              <a:rPr lang="it" sz="1425"/>
              <a:t>21. As an Admin, I want to access monsters' information, so that I can have a clear view of monsters in the system  </a:t>
            </a:r>
            <a:endParaRPr sz="1425"/>
          </a:p>
          <a:p>
            <a:pPr indent="0" lvl="0" marL="0" rtl="0" algn="l">
              <a:spcBef>
                <a:spcPts val="1200"/>
              </a:spcBef>
              <a:spcAft>
                <a:spcPts val="0"/>
              </a:spcAft>
              <a:buClr>
                <a:schemeClr val="dk2"/>
              </a:buClr>
              <a:buSzPct val="77151"/>
              <a:buFont typeface="Arial"/>
              <a:buNone/>
            </a:pPr>
            <a:r>
              <a:rPr lang="it" sz="1425"/>
              <a:t>22. As an Admin, I want to edit monsters' information, so that I can better balance the game  </a:t>
            </a:r>
            <a:endParaRPr sz="1425"/>
          </a:p>
          <a:p>
            <a:pPr indent="0" lvl="0" marL="0" rtl="0" algn="l">
              <a:spcBef>
                <a:spcPts val="1200"/>
              </a:spcBef>
              <a:spcAft>
                <a:spcPts val="0"/>
              </a:spcAft>
              <a:buClr>
                <a:schemeClr val="dk2"/>
              </a:buClr>
              <a:buSzPct val="77151"/>
              <a:buFont typeface="Arial"/>
              <a:buNone/>
            </a:pPr>
            <a:r>
              <a:rPr lang="it" sz="1425"/>
              <a:t>23. As an Admin, I want to delete monsters' information, so that I can remove obsolete creatures from the system  </a:t>
            </a:r>
            <a:endParaRPr sz="1425"/>
          </a:p>
          <a:p>
            <a:pPr indent="0" lvl="0" marL="0" rtl="0" algn="l">
              <a:spcBef>
                <a:spcPts val="1200"/>
              </a:spcBef>
              <a:spcAft>
                <a:spcPts val="0"/>
              </a:spcAft>
              <a:buClr>
                <a:schemeClr val="dk2"/>
              </a:buClr>
              <a:buSzPct val="77151"/>
              <a:buFont typeface="Arial"/>
              <a:buNone/>
            </a:pPr>
            <a:r>
              <a:rPr lang="it" sz="1425"/>
              <a:t>24. As an Admin, I want to create new monsters, so that I can add more creatures for the players  </a:t>
            </a:r>
            <a:endParaRPr sz="1425"/>
          </a:p>
          <a:p>
            <a:pPr indent="0" lvl="0" marL="0" rtl="0" algn="l">
              <a:spcBef>
                <a:spcPts val="1200"/>
              </a:spcBef>
              <a:spcAft>
                <a:spcPts val="0"/>
              </a:spcAft>
              <a:buClr>
                <a:schemeClr val="dk2"/>
              </a:buClr>
              <a:buSzPct val="77151"/>
              <a:buFont typeface="Arial"/>
              <a:buNone/>
            </a:pPr>
            <a:r>
              <a:rPr lang="it" sz="1425"/>
              <a:t>25. As an Admin, I want to access items' information, so that I can have a clear view of items in the system  </a:t>
            </a:r>
            <a:endParaRPr sz="1425"/>
          </a:p>
          <a:p>
            <a:pPr indent="0" lvl="0" marL="0" rtl="0" algn="l">
              <a:spcBef>
                <a:spcPts val="1200"/>
              </a:spcBef>
              <a:spcAft>
                <a:spcPts val="0"/>
              </a:spcAft>
              <a:buClr>
                <a:schemeClr val="dk2"/>
              </a:buClr>
              <a:buSzPct val="77151"/>
              <a:buFont typeface="Arial"/>
              <a:buNone/>
            </a:pPr>
            <a:r>
              <a:rPr lang="it" sz="1425"/>
              <a:t>26. As an Admin, I want to edit items' information, so that I can better balance the game  </a:t>
            </a:r>
            <a:endParaRPr sz="1425"/>
          </a:p>
          <a:p>
            <a:pPr indent="0" lvl="0" marL="0" rtl="0" algn="l">
              <a:spcBef>
                <a:spcPts val="1200"/>
              </a:spcBef>
              <a:spcAft>
                <a:spcPts val="0"/>
              </a:spcAft>
              <a:buClr>
                <a:schemeClr val="dk2"/>
              </a:buClr>
              <a:buSzPct val="77151"/>
              <a:buFont typeface="Arial"/>
              <a:buNone/>
            </a:pPr>
            <a:r>
              <a:rPr lang="it" sz="1425"/>
              <a:t>27. As an Admin, I want to delete items' information, so that I can remove obsolete items from the system  </a:t>
            </a:r>
            <a:endParaRPr sz="1425"/>
          </a:p>
          <a:p>
            <a:pPr indent="0" lvl="0" marL="0" rtl="0" algn="l">
              <a:spcBef>
                <a:spcPts val="1200"/>
              </a:spcBef>
              <a:spcAft>
                <a:spcPts val="0"/>
              </a:spcAft>
              <a:buClr>
                <a:schemeClr val="dk2"/>
              </a:buClr>
              <a:buSzPct val="77151"/>
              <a:buFont typeface="Arial"/>
              <a:buNone/>
            </a:pPr>
            <a:r>
              <a:rPr lang="it" sz="1425"/>
              <a:t>28. As an Admin, I want to create new items, so that I can add more items for the players </a:t>
            </a:r>
            <a:endParaRPr sz="1425"/>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Monster Collection</a:t>
            </a:r>
            <a:endParaRPr/>
          </a:p>
        </p:txBody>
      </p:sp>
      <p:sp>
        <p:nvSpPr>
          <p:cNvPr id="119" name="Google Shape;119;p22"/>
          <p:cNvSpPr txBox="1"/>
          <p:nvPr>
            <p:ph idx="1" type="body"/>
          </p:nvPr>
        </p:nvSpPr>
        <p:spPr>
          <a:xfrm>
            <a:off x="311700" y="1389600"/>
            <a:ext cx="3441900" cy="33849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it" sz="2141"/>
              <a:t>29. As a Player, I want to sell (shard) monsters, so that I can gain in-game currency  </a:t>
            </a:r>
            <a:endParaRPr sz="2141"/>
          </a:p>
          <a:p>
            <a:pPr indent="0" lvl="0" marL="0" rtl="0" algn="l">
              <a:spcBef>
                <a:spcPts val="1200"/>
              </a:spcBef>
              <a:spcAft>
                <a:spcPts val="0"/>
              </a:spcAft>
              <a:buNone/>
            </a:pPr>
            <a:r>
              <a:rPr lang="it" sz="2141"/>
              <a:t>30. As a Player, I want to view my collection of monsters, so that I can track my progress </a:t>
            </a:r>
            <a:endParaRPr sz="2141"/>
          </a:p>
          <a:p>
            <a:pPr indent="0" lvl="0" marL="0" rtl="0" algn="l">
              <a:spcBef>
                <a:spcPts val="1200"/>
              </a:spcBef>
              <a:spcAft>
                <a:spcPts val="0"/>
              </a:spcAft>
              <a:buClr>
                <a:schemeClr val="dk2"/>
              </a:buClr>
              <a:buSzPct val="51356"/>
              <a:buFont typeface="Arial"/>
              <a:buNone/>
            </a:pPr>
            <a:r>
              <a:rPr lang="it" sz="2141"/>
              <a:t>31</a:t>
            </a:r>
            <a:r>
              <a:rPr lang="it" sz="2141"/>
              <a:t>. As a Player, I want to see which creatures I’m missing in a collection, so that I know what to aim for  </a:t>
            </a:r>
            <a:endParaRPr sz="2377"/>
          </a:p>
          <a:p>
            <a:pPr indent="0" lvl="0" marL="0" rtl="0" algn="l">
              <a:spcBef>
                <a:spcPts val="1200"/>
              </a:spcBef>
              <a:spcAft>
                <a:spcPts val="0"/>
              </a:spcAft>
              <a:buClr>
                <a:schemeClr val="dk2"/>
              </a:buClr>
              <a:buSzPct val="51356"/>
              <a:buFont typeface="Arial"/>
              <a:buNone/>
            </a:pPr>
            <a:r>
              <a:rPr lang="it" sz="2141"/>
              <a:t>32. As a Player, I want to receive a reward (in-game currency) for completing a collection, so that my effort feels meaningful  </a:t>
            </a:r>
            <a:endParaRPr sz="2141"/>
          </a:p>
          <a:p>
            <a:pPr indent="0" lvl="0" marL="0" rtl="0" algn="l">
              <a:spcBef>
                <a:spcPts val="1200"/>
              </a:spcBef>
              <a:spcAft>
                <a:spcPts val="0"/>
              </a:spcAft>
              <a:buClr>
                <a:schemeClr val="dk2"/>
              </a:buClr>
              <a:buSzPct val="51356"/>
              <a:buFont typeface="Arial"/>
              <a:buNone/>
            </a:pPr>
            <a:r>
              <a:rPr lang="it" sz="2141"/>
              <a:t>33. As a Player, I want duplicates to be clearly marked in my collection, so that I know what can be safely “sharded”</a:t>
            </a:r>
            <a:endParaRPr sz="2141"/>
          </a:p>
          <a:p>
            <a:pPr indent="0" lvl="0" marL="0" rtl="0" algn="l">
              <a:spcBef>
                <a:spcPts val="1200"/>
              </a:spcBef>
              <a:spcAft>
                <a:spcPts val="1200"/>
              </a:spcAft>
              <a:buNone/>
            </a:pPr>
            <a:r>
              <a:t/>
            </a:r>
            <a:endParaRPr/>
          </a:p>
        </p:txBody>
      </p:sp>
      <p:pic>
        <p:nvPicPr>
          <p:cNvPr id="120" name="Google Shape;120;p22"/>
          <p:cNvPicPr preferRelativeResize="0"/>
          <p:nvPr/>
        </p:nvPicPr>
        <p:blipFill>
          <a:blip r:embed="rId3">
            <a:alphaModFix/>
          </a:blip>
          <a:stretch>
            <a:fillRect/>
          </a:stretch>
        </p:blipFill>
        <p:spPr>
          <a:xfrm>
            <a:off x="4183000" y="1452425"/>
            <a:ext cx="4313573" cy="28015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555600"/>
            <a:ext cx="3253500" cy="755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it"/>
              <a:t>Inventory, Shop and Statistics</a:t>
            </a:r>
            <a:endParaRPr/>
          </a:p>
        </p:txBody>
      </p:sp>
      <p:sp>
        <p:nvSpPr>
          <p:cNvPr id="126" name="Google Shape;126;p23"/>
          <p:cNvSpPr txBox="1"/>
          <p:nvPr>
            <p:ph idx="1" type="body"/>
          </p:nvPr>
        </p:nvSpPr>
        <p:spPr>
          <a:xfrm>
            <a:off x="311700" y="1389600"/>
            <a:ext cx="3017700" cy="317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34</a:t>
            </a:r>
            <a:r>
              <a:rPr lang="it"/>
              <a:t>. As a Player, I want to buy items with in-game currency, so that I can use them in an encounter</a:t>
            </a:r>
            <a:endParaRPr/>
          </a:p>
          <a:p>
            <a:pPr indent="0" lvl="0" marL="0" rtl="0" algn="l">
              <a:spcBef>
                <a:spcPts val="1200"/>
              </a:spcBef>
              <a:spcAft>
                <a:spcPts val="0"/>
              </a:spcAft>
              <a:buNone/>
            </a:pPr>
            <a:r>
              <a:rPr lang="it"/>
              <a:t>35. As a Player, I want to view my inventory, so that I can see what items I own  </a:t>
            </a:r>
            <a:endParaRPr/>
          </a:p>
          <a:p>
            <a:pPr indent="0" lvl="0" marL="0" rtl="0" algn="l">
              <a:spcBef>
                <a:spcPts val="1200"/>
              </a:spcBef>
              <a:spcAft>
                <a:spcPts val="1200"/>
              </a:spcAft>
              <a:buNone/>
            </a:pPr>
            <a:r>
              <a:rPr lang="it"/>
              <a:t>36. As a Player, I want the game to track capture statistics, so that I feel motivated to improve  </a:t>
            </a:r>
            <a:endParaRPr/>
          </a:p>
        </p:txBody>
      </p:sp>
      <p:pic>
        <p:nvPicPr>
          <p:cNvPr id="127" name="Google Shape;127;p23"/>
          <p:cNvPicPr preferRelativeResize="0"/>
          <p:nvPr/>
        </p:nvPicPr>
        <p:blipFill>
          <a:blip r:embed="rId3">
            <a:alphaModFix/>
          </a:blip>
          <a:stretch>
            <a:fillRect/>
          </a:stretch>
        </p:blipFill>
        <p:spPr>
          <a:xfrm>
            <a:off x="4844400" y="2830875"/>
            <a:ext cx="2807999" cy="1823724"/>
          </a:xfrm>
          <a:prstGeom prst="rect">
            <a:avLst/>
          </a:prstGeom>
          <a:noFill/>
          <a:ln>
            <a:noFill/>
          </a:ln>
        </p:spPr>
      </p:pic>
      <p:pic>
        <p:nvPicPr>
          <p:cNvPr id="128" name="Google Shape;128;p23"/>
          <p:cNvPicPr preferRelativeResize="0"/>
          <p:nvPr/>
        </p:nvPicPr>
        <p:blipFill>
          <a:blip r:embed="rId4">
            <a:alphaModFix/>
          </a:blip>
          <a:stretch>
            <a:fillRect/>
          </a:stretch>
        </p:blipFill>
        <p:spPr>
          <a:xfrm>
            <a:off x="4844412" y="874000"/>
            <a:ext cx="2807999" cy="18237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Architecture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99550" y="84350"/>
            <a:ext cx="4611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Architecture - System Architecture</a:t>
            </a:r>
            <a:endParaRPr/>
          </a:p>
        </p:txBody>
      </p:sp>
      <p:pic>
        <p:nvPicPr>
          <p:cNvPr id="139" name="Google Shape;139;p25"/>
          <p:cNvPicPr preferRelativeResize="0"/>
          <p:nvPr/>
        </p:nvPicPr>
        <p:blipFill>
          <a:blip r:embed="rId3">
            <a:alphaModFix/>
          </a:blip>
          <a:stretch>
            <a:fillRect/>
          </a:stretch>
        </p:blipFill>
        <p:spPr>
          <a:xfrm>
            <a:off x="1698575" y="781675"/>
            <a:ext cx="5746848" cy="4181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99550" y="84350"/>
            <a:ext cx="341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Architecture - ER diagram</a:t>
            </a:r>
            <a:endParaRPr/>
          </a:p>
        </p:txBody>
      </p:sp>
      <p:pic>
        <p:nvPicPr>
          <p:cNvPr id="145" name="Google Shape;145;p26"/>
          <p:cNvPicPr preferRelativeResize="0"/>
          <p:nvPr/>
        </p:nvPicPr>
        <p:blipFill rotWithShape="1">
          <a:blip r:embed="rId3">
            <a:alphaModFix/>
          </a:blip>
          <a:srcRect b="17184" l="2995" r="6218" t="0"/>
          <a:stretch/>
        </p:blipFill>
        <p:spPr>
          <a:xfrm>
            <a:off x="1145662" y="657050"/>
            <a:ext cx="6852674" cy="4415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Technologies</a:t>
            </a:r>
            <a:endParaRPr/>
          </a:p>
        </p:txBody>
      </p:sp>
      <p:sp>
        <p:nvSpPr>
          <p:cNvPr id="151" name="Google Shape;151;p27"/>
          <p:cNvSpPr txBox="1"/>
          <p:nvPr>
            <p:ph idx="1" type="body"/>
          </p:nvPr>
        </p:nvSpPr>
        <p:spPr>
          <a:xfrm>
            <a:off x="311700" y="1234050"/>
            <a:ext cx="3999900" cy="3334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fontScale="77500" lnSpcReduction="20000"/>
          </a:bodyPr>
          <a:lstStyle/>
          <a:p>
            <a:pPr indent="0" lvl="0" marL="12700" rtl="0" algn="l">
              <a:spcBef>
                <a:spcPts val="0"/>
              </a:spcBef>
              <a:spcAft>
                <a:spcPts val="0"/>
              </a:spcAft>
              <a:buNone/>
            </a:pPr>
            <a:r>
              <a:rPr lang="it" sz="2391"/>
              <a:t>The app is distributed over different microservices, which are deployed using Docker:</a:t>
            </a:r>
            <a:endParaRPr sz="2391"/>
          </a:p>
          <a:p>
            <a:pPr indent="-346310" lvl="0" marL="457200" rtl="0" algn="l">
              <a:spcBef>
                <a:spcPts val="1000"/>
              </a:spcBef>
              <a:spcAft>
                <a:spcPts val="0"/>
              </a:spcAft>
              <a:buSzPct val="100000"/>
              <a:buChar char="★"/>
            </a:pPr>
            <a:r>
              <a:rPr lang="it" sz="2391"/>
              <a:t>Users service</a:t>
            </a:r>
            <a:endParaRPr sz="2391"/>
          </a:p>
          <a:p>
            <a:pPr indent="-346310" lvl="0" marL="457200" rtl="0" algn="l">
              <a:spcBef>
                <a:spcPts val="1000"/>
              </a:spcBef>
              <a:spcAft>
                <a:spcPts val="0"/>
              </a:spcAft>
              <a:buSzPct val="100000"/>
              <a:buChar char="★"/>
            </a:pPr>
            <a:r>
              <a:rPr lang="it" sz="2391"/>
              <a:t>Monsters service</a:t>
            </a:r>
            <a:endParaRPr sz="2391"/>
          </a:p>
          <a:p>
            <a:pPr indent="-346310" lvl="0" marL="457200" rtl="0" algn="l">
              <a:spcBef>
                <a:spcPts val="1000"/>
              </a:spcBef>
              <a:spcAft>
                <a:spcPts val="0"/>
              </a:spcAft>
              <a:buSzPct val="100000"/>
              <a:buChar char="★"/>
            </a:pPr>
            <a:r>
              <a:rPr lang="it" sz="2391"/>
              <a:t>Items service</a:t>
            </a:r>
            <a:endParaRPr sz="2391"/>
          </a:p>
          <a:p>
            <a:pPr indent="-346310" lvl="0" marL="457200" rtl="0" algn="l">
              <a:spcBef>
                <a:spcPts val="1000"/>
              </a:spcBef>
              <a:spcAft>
                <a:spcPts val="0"/>
              </a:spcAft>
              <a:buSzPct val="100000"/>
              <a:buChar char="★"/>
            </a:pPr>
            <a:r>
              <a:rPr lang="it" sz="2391"/>
              <a:t>Game service</a:t>
            </a:r>
            <a:endParaRPr sz="2391"/>
          </a:p>
          <a:p>
            <a:pPr indent="-346310" lvl="0" marL="457200" rtl="0" algn="l">
              <a:spcBef>
                <a:spcPts val="1000"/>
              </a:spcBef>
              <a:spcAft>
                <a:spcPts val="0"/>
              </a:spcAft>
              <a:buSzPct val="100000"/>
              <a:buChar char="★"/>
            </a:pPr>
            <a:r>
              <a:rPr lang="it" sz="2391"/>
              <a:t>Web server</a:t>
            </a:r>
            <a:endParaRPr sz="2391"/>
          </a:p>
          <a:p>
            <a:pPr indent="0" lvl="0" marL="0" rtl="0" algn="l">
              <a:spcBef>
                <a:spcPts val="1000"/>
              </a:spcBef>
              <a:spcAft>
                <a:spcPts val="1200"/>
              </a:spcAft>
              <a:buNone/>
            </a:pPr>
            <a:r>
              <a:t/>
            </a:r>
            <a:endParaRPr/>
          </a:p>
        </p:txBody>
      </p:sp>
      <p:sp>
        <p:nvSpPr>
          <p:cNvPr id="152" name="Google Shape;152;p27"/>
          <p:cNvSpPr txBox="1"/>
          <p:nvPr>
            <p:ph idx="2" type="body"/>
          </p:nvPr>
        </p:nvSpPr>
        <p:spPr>
          <a:xfrm>
            <a:off x="4832400" y="1234050"/>
            <a:ext cx="3999900" cy="33348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it" sz="2000"/>
              <a:t>We used PostgreSQL to manage the </a:t>
            </a:r>
            <a:r>
              <a:rPr lang="it" sz="2000"/>
              <a:t>DB</a:t>
            </a:r>
            <a:r>
              <a:rPr lang="it" sz="2000"/>
              <a:t>.</a:t>
            </a:r>
            <a:endParaRPr sz="2000"/>
          </a:p>
          <a:p>
            <a:pPr indent="0" lvl="0" marL="0" rtl="0" algn="l">
              <a:spcBef>
                <a:spcPts val="1200"/>
              </a:spcBef>
              <a:spcAft>
                <a:spcPts val="0"/>
              </a:spcAft>
              <a:buNone/>
            </a:pPr>
            <a:r>
              <a:rPr lang="it" sz="2000"/>
              <a:t>Python was chosen to write the backend, in order to keep things simple, and RabbitMQ was used to keep microservices updated asynchronously.</a:t>
            </a:r>
            <a:endParaRPr sz="2000"/>
          </a:p>
          <a:p>
            <a:pPr indent="0" lvl="0" marL="0" rtl="0" algn="l">
              <a:spcBef>
                <a:spcPts val="1200"/>
              </a:spcBef>
              <a:spcAft>
                <a:spcPts val="1200"/>
              </a:spcAft>
              <a:buNone/>
            </a:pPr>
            <a:r>
              <a:rPr lang="it" sz="2000"/>
              <a:t>Vue and Javascript were used in the frontend, along with toolkits as Bootstrap, to create the UI.</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Auth service</a:t>
            </a:r>
            <a:endParaRPr/>
          </a:p>
        </p:txBody>
      </p:sp>
      <p:sp>
        <p:nvSpPr>
          <p:cNvPr id="158" name="Google Shape;158;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400"/>
              <a:t>The authentication service handles everything </a:t>
            </a:r>
            <a:r>
              <a:rPr lang="it" sz="1400"/>
              <a:t>related</a:t>
            </a:r>
            <a:r>
              <a:rPr lang="it" sz="1400"/>
              <a:t> to user account management, starting from registering new accounts and logging in, to updating account information or deleting accounts.</a:t>
            </a:r>
            <a:endParaRPr sz="1400"/>
          </a:p>
          <a:p>
            <a:pPr indent="0" lvl="0" marL="0" rtl="0" algn="l">
              <a:spcBef>
                <a:spcPts val="1200"/>
              </a:spcBef>
              <a:spcAft>
                <a:spcPts val="1200"/>
              </a:spcAft>
              <a:buNone/>
            </a:pPr>
            <a:r>
              <a:rPr lang="it" sz="1400"/>
              <a:t>Authentication is managed using JWT tokens, and passwords are hashed before being saved, to guarantee privacy.</a:t>
            </a:r>
            <a:endParaRPr sz="1400"/>
          </a:p>
        </p:txBody>
      </p:sp>
      <p:pic>
        <p:nvPicPr>
          <p:cNvPr id="159" name="Google Shape;159;p28"/>
          <p:cNvPicPr preferRelativeResize="0"/>
          <p:nvPr/>
        </p:nvPicPr>
        <p:blipFill>
          <a:blip r:embed="rId3">
            <a:alphaModFix/>
          </a:blip>
          <a:stretch>
            <a:fillRect/>
          </a:stretch>
        </p:blipFill>
        <p:spPr>
          <a:xfrm>
            <a:off x="4572000" y="1311300"/>
            <a:ext cx="3556625" cy="3247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Monster service</a:t>
            </a:r>
            <a:endParaRPr/>
          </a:p>
        </p:txBody>
      </p:sp>
      <p:sp>
        <p:nvSpPr>
          <p:cNvPr id="165" name="Google Shape;165;p2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it" sz="1500"/>
              <a:t>The monster service handles everything related to managing the creatures in the game, in particular adding, editing and deleting data.</a:t>
            </a:r>
            <a:endParaRPr sz="1500"/>
          </a:p>
          <a:p>
            <a:pPr indent="0" lvl="0" marL="0" rtl="0" algn="l">
              <a:spcBef>
                <a:spcPts val="1200"/>
              </a:spcBef>
              <a:spcAft>
                <a:spcPts val="1200"/>
              </a:spcAft>
              <a:buClr>
                <a:schemeClr val="dk2"/>
              </a:buClr>
              <a:buSzPts val="1100"/>
              <a:buFont typeface="Arial"/>
              <a:buNone/>
            </a:pPr>
            <a:r>
              <a:rPr lang="it" sz="1500"/>
              <a:t>Authentication is used to separate admin routes from common user routes, to avoid players tampering with monster data.</a:t>
            </a:r>
            <a:endParaRPr sz="1300"/>
          </a:p>
        </p:txBody>
      </p:sp>
      <p:pic>
        <p:nvPicPr>
          <p:cNvPr id="166" name="Google Shape;166;p29"/>
          <p:cNvPicPr preferRelativeResize="0"/>
          <p:nvPr/>
        </p:nvPicPr>
        <p:blipFill>
          <a:blip r:embed="rId3">
            <a:alphaModFix/>
          </a:blip>
          <a:stretch>
            <a:fillRect/>
          </a:stretch>
        </p:blipFill>
        <p:spPr>
          <a:xfrm>
            <a:off x="4572000" y="1255267"/>
            <a:ext cx="2653725" cy="331373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0"/>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Item service</a:t>
            </a:r>
            <a:endParaRPr/>
          </a:p>
        </p:txBody>
      </p:sp>
      <p:sp>
        <p:nvSpPr>
          <p:cNvPr id="172" name="Google Shape;172;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500"/>
              <a:t>The item service handles everything related to managing the items in the game, in particular adding, editing and deleting data.</a:t>
            </a:r>
            <a:endParaRPr sz="1500"/>
          </a:p>
          <a:p>
            <a:pPr indent="0" lvl="0" marL="0" rtl="0" algn="l">
              <a:spcBef>
                <a:spcPts val="1200"/>
              </a:spcBef>
              <a:spcAft>
                <a:spcPts val="1200"/>
              </a:spcAft>
              <a:buNone/>
            </a:pPr>
            <a:r>
              <a:rPr lang="it" sz="1500"/>
              <a:t>Authentication is used to separate admin routes from common user routes, to avoid players tampering with item data.</a:t>
            </a:r>
            <a:endParaRPr sz="1300"/>
          </a:p>
        </p:txBody>
      </p:sp>
      <p:pic>
        <p:nvPicPr>
          <p:cNvPr id="173" name="Google Shape;173;p30"/>
          <p:cNvPicPr preferRelativeResize="0"/>
          <p:nvPr/>
        </p:nvPicPr>
        <p:blipFill>
          <a:blip r:embed="rId3">
            <a:alphaModFix/>
          </a:blip>
          <a:stretch>
            <a:fillRect/>
          </a:stretch>
        </p:blipFill>
        <p:spPr>
          <a:xfrm>
            <a:off x="4609166" y="1311300"/>
            <a:ext cx="2717684" cy="3179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it"/>
              <a:t>Game service</a:t>
            </a:r>
            <a:endParaRPr/>
          </a:p>
        </p:txBody>
      </p:sp>
      <p:sp>
        <p:nvSpPr>
          <p:cNvPr id="179" name="Google Shape;179;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800"/>
              <a:t>The game service handles everything related to the game-loop, from encounter generation to player collections.</a:t>
            </a:r>
            <a:endParaRPr sz="1800"/>
          </a:p>
          <a:p>
            <a:pPr indent="0" lvl="0" marL="0" rtl="0" algn="l">
              <a:spcBef>
                <a:spcPts val="1200"/>
              </a:spcBef>
              <a:spcAft>
                <a:spcPts val="1200"/>
              </a:spcAft>
              <a:buNone/>
            </a:pPr>
            <a:r>
              <a:rPr lang="it" sz="1800"/>
              <a:t>It also manages all user data related to the game.</a:t>
            </a:r>
            <a:endParaRPr sz="1800"/>
          </a:p>
        </p:txBody>
      </p:sp>
      <p:pic>
        <p:nvPicPr>
          <p:cNvPr id="180" name="Google Shape;180;p31"/>
          <p:cNvPicPr preferRelativeResize="0"/>
          <p:nvPr/>
        </p:nvPicPr>
        <p:blipFill>
          <a:blip r:embed="rId3">
            <a:alphaModFix/>
          </a:blip>
          <a:stretch>
            <a:fillRect/>
          </a:stretch>
        </p:blipFill>
        <p:spPr>
          <a:xfrm>
            <a:off x="3814319" y="1311300"/>
            <a:ext cx="4254380" cy="32576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FP and COCOMO II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title"/>
          </p:nvPr>
        </p:nvSpPr>
        <p:spPr>
          <a:xfrm>
            <a:off x="265500" y="852750"/>
            <a:ext cx="4045200" cy="1146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Function Points</a:t>
            </a:r>
            <a:endParaRPr/>
          </a:p>
        </p:txBody>
      </p:sp>
      <p:sp>
        <p:nvSpPr>
          <p:cNvPr id="191" name="Google Shape;191;p33"/>
          <p:cNvSpPr txBox="1"/>
          <p:nvPr>
            <p:ph idx="1" type="subTitle"/>
          </p:nvPr>
        </p:nvSpPr>
        <p:spPr>
          <a:xfrm>
            <a:off x="265500" y="1998751"/>
            <a:ext cx="4045200" cy="24204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lang="it" sz="1700"/>
              <a:t>We computed the function points after having defined the architecture of the system.</a:t>
            </a:r>
            <a:endParaRPr sz="1700"/>
          </a:p>
          <a:p>
            <a:pPr indent="0" lvl="0" marL="0" rtl="0" algn="l">
              <a:lnSpc>
                <a:spcPct val="80000"/>
              </a:lnSpc>
              <a:spcBef>
                <a:spcPts val="1000"/>
              </a:spcBef>
              <a:spcAft>
                <a:spcPts val="0"/>
              </a:spcAft>
              <a:buSzPts val="935"/>
              <a:buNone/>
            </a:pPr>
            <a:r>
              <a:rPr lang="it" sz="1700"/>
              <a:t>The VAF was computed considering the 14 GSCs.</a:t>
            </a:r>
            <a:endParaRPr sz="1700"/>
          </a:p>
          <a:p>
            <a:pPr indent="0" lvl="0" marL="0" rtl="0" algn="l">
              <a:lnSpc>
                <a:spcPct val="80000"/>
              </a:lnSpc>
              <a:spcBef>
                <a:spcPts val="1000"/>
              </a:spcBef>
              <a:spcAft>
                <a:spcPts val="0"/>
              </a:spcAft>
              <a:buSzPts val="935"/>
              <a:buNone/>
            </a:pPr>
            <a:r>
              <a:rPr lang="it" sz="1700"/>
              <a:t>The KLOC estimation was done assuming ⅓ of the code to be written in Python (backend), while ⅔ would be written in Vue + Javascript (frontend).</a:t>
            </a:r>
            <a:endParaRPr sz="1700"/>
          </a:p>
        </p:txBody>
      </p:sp>
      <p:sp>
        <p:nvSpPr>
          <p:cNvPr id="192" name="Google Shape;192;p33"/>
          <p:cNvSpPr txBox="1"/>
          <p:nvPr>
            <p:ph idx="2" type="body"/>
          </p:nvPr>
        </p:nvSpPr>
        <p:spPr>
          <a:xfrm>
            <a:off x="4939500" y="1998825"/>
            <a:ext cx="3837000" cy="2420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it" sz="3500"/>
              <a:t>UFP = 97</a:t>
            </a:r>
            <a:endParaRPr sz="3500"/>
          </a:p>
          <a:p>
            <a:pPr indent="0" lvl="0" marL="0" rtl="0" algn="l">
              <a:spcBef>
                <a:spcPts val="1200"/>
              </a:spcBef>
              <a:spcAft>
                <a:spcPts val="0"/>
              </a:spcAft>
              <a:buNone/>
            </a:pPr>
            <a:r>
              <a:rPr lang="it" sz="3500"/>
              <a:t>AFP = 107.67</a:t>
            </a:r>
            <a:endParaRPr sz="3500"/>
          </a:p>
          <a:p>
            <a:pPr indent="0" lvl="0" marL="0" rtl="0" algn="l">
              <a:spcBef>
                <a:spcPts val="1200"/>
              </a:spcBef>
              <a:spcAft>
                <a:spcPts val="1200"/>
              </a:spcAft>
              <a:buNone/>
            </a:pPr>
            <a:r>
              <a:rPr lang="it" sz="3500"/>
              <a:t>KLOC </a:t>
            </a:r>
            <a:r>
              <a:rPr lang="it" sz="3500"/>
              <a:t>≈ 4.7 KLOC</a:t>
            </a:r>
            <a:endParaRPr sz="3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4"/>
          <p:cNvSpPr txBox="1"/>
          <p:nvPr>
            <p:ph type="title"/>
          </p:nvPr>
        </p:nvSpPr>
        <p:spPr>
          <a:xfrm>
            <a:off x="265500" y="852750"/>
            <a:ext cx="4045200" cy="1146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COCOMO II</a:t>
            </a:r>
            <a:endParaRPr/>
          </a:p>
        </p:txBody>
      </p:sp>
      <p:sp>
        <p:nvSpPr>
          <p:cNvPr id="198" name="Google Shape;198;p34"/>
          <p:cNvSpPr txBox="1"/>
          <p:nvPr>
            <p:ph idx="1" type="subTitle"/>
          </p:nvPr>
        </p:nvSpPr>
        <p:spPr>
          <a:xfrm>
            <a:off x="265500" y="1998751"/>
            <a:ext cx="4045200" cy="24204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lang="it" sz="1700"/>
              <a:t>Using the post-architectural model, we estimated an effort of ≈15 PM and a time to develop of </a:t>
            </a:r>
            <a:r>
              <a:rPr lang="it" sz="1700"/>
              <a:t>≈8 months, meaning a staffing of 2 people per month.</a:t>
            </a:r>
            <a:endParaRPr sz="1700"/>
          </a:p>
          <a:p>
            <a:pPr indent="0" lvl="0" marL="0" rtl="0" algn="l">
              <a:lnSpc>
                <a:spcPct val="80000"/>
              </a:lnSpc>
              <a:spcBef>
                <a:spcPts val="1000"/>
              </a:spcBef>
              <a:spcAft>
                <a:spcPts val="1000"/>
              </a:spcAft>
              <a:buSzPts val="935"/>
              <a:buNone/>
            </a:pPr>
            <a:r>
              <a:rPr lang="it" sz="1700"/>
              <a:t>The scale factors were computed based on the official COCOMO II calibration table, which evaluates Precedentedness, Flexibility, Team Cohesion, Process Maturity, and Risk Resolution.</a:t>
            </a:r>
            <a:endParaRPr sz="1700"/>
          </a:p>
        </p:txBody>
      </p:sp>
      <p:sp>
        <p:nvSpPr>
          <p:cNvPr id="199" name="Google Shape;199;p34"/>
          <p:cNvSpPr txBox="1"/>
          <p:nvPr>
            <p:ph idx="2" type="body"/>
          </p:nvPr>
        </p:nvSpPr>
        <p:spPr>
          <a:xfrm>
            <a:off x="4939500" y="1998750"/>
            <a:ext cx="3837000" cy="2420400"/>
          </a:xfrm>
          <a:prstGeom prst="rect">
            <a:avLst/>
          </a:prstGeom>
        </p:spPr>
        <p:txBody>
          <a:bodyPr anchorCtr="0" anchor="t" bIns="91425" lIns="91425" spcFirstLastPara="1" rIns="91425" wrap="square" tIns="91425">
            <a:normAutofit/>
          </a:bodyPr>
          <a:lstStyle/>
          <a:p>
            <a:pPr indent="0" lvl="0" marL="0" marR="0" rtl="0" algn="l">
              <a:lnSpc>
                <a:spcPct val="80000"/>
              </a:lnSpc>
              <a:spcBef>
                <a:spcPts val="0"/>
              </a:spcBef>
              <a:spcAft>
                <a:spcPts val="0"/>
              </a:spcAft>
              <a:buNone/>
            </a:pPr>
            <a:r>
              <a:rPr lang="it" sz="1700"/>
              <a:t>We actually were able to complete the project as a team of 3 people in 2 months. </a:t>
            </a:r>
            <a:endParaRPr sz="1700"/>
          </a:p>
          <a:p>
            <a:pPr indent="0" lvl="0" marL="0" marR="0" rtl="0" algn="l">
              <a:lnSpc>
                <a:spcPct val="80000"/>
              </a:lnSpc>
              <a:spcBef>
                <a:spcPts val="1000"/>
              </a:spcBef>
              <a:spcAft>
                <a:spcPts val="0"/>
              </a:spcAft>
              <a:buClr>
                <a:srgbClr val="000000"/>
              </a:buClr>
              <a:buSzPts val="935"/>
              <a:buFont typeface="Arial"/>
              <a:buNone/>
            </a:pPr>
            <a:r>
              <a:rPr lang="it" sz="1700"/>
              <a:t>This was mainly due to the fact that we fully parallelized tasks across sprints, and some of us had previous experience in parts of the work. </a:t>
            </a:r>
            <a:endParaRPr sz="1700"/>
          </a:p>
          <a:p>
            <a:pPr indent="0" lvl="0" marL="0" marR="0" rtl="0" algn="l">
              <a:lnSpc>
                <a:spcPct val="80000"/>
              </a:lnSpc>
              <a:spcBef>
                <a:spcPts val="1000"/>
              </a:spcBef>
              <a:spcAft>
                <a:spcPts val="1000"/>
              </a:spcAft>
              <a:buClr>
                <a:srgbClr val="000000"/>
              </a:buClr>
              <a:buSzPts val="935"/>
              <a:buFont typeface="Arial"/>
              <a:buNone/>
            </a:pPr>
            <a:r>
              <a:t/>
            </a:r>
            <a:endParaRPr sz="17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5"/>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Sprint Planning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445025"/>
            <a:ext cx="404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SPRINT 1</a:t>
            </a:r>
            <a:endParaRPr/>
          </a:p>
        </p:txBody>
      </p:sp>
      <p:sp>
        <p:nvSpPr>
          <p:cNvPr id="210" name="Google Shape;210;p36"/>
          <p:cNvSpPr txBox="1"/>
          <p:nvPr>
            <p:ph idx="1" type="body"/>
          </p:nvPr>
        </p:nvSpPr>
        <p:spPr>
          <a:xfrm>
            <a:off x="311700" y="1234050"/>
            <a:ext cx="3999900" cy="2071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it" sz="1700"/>
              <a:t>Requirements Definition and Analysis</a:t>
            </a:r>
            <a:endParaRPr b="1" sz="1700"/>
          </a:p>
          <a:p>
            <a:pPr indent="0" lvl="0" marL="0" rtl="0" algn="l">
              <a:lnSpc>
                <a:spcPct val="115000"/>
              </a:lnSpc>
              <a:spcBef>
                <a:spcPts val="1200"/>
              </a:spcBef>
              <a:spcAft>
                <a:spcPts val="0"/>
              </a:spcAft>
              <a:buNone/>
            </a:pPr>
            <a:r>
              <a:t/>
            </a:r>
            <a:endParaRPr b="1" sz="1700"/>
          </a:p>
          <a:p>
            <a:pPr indent="0" lvl="0" marL="0" rtl="0" algn="l">
              <a:lnSpc>
                <a:spcPct val="115000"/>
              </a:lnSpc>
              <a:spcBef>
                <a:spcPts val="1200"/>
              </a:spcBef>
              <a:spcAft>
                <a:spcPts val="0"/>
              </a:spcAft>
              <a:buNone/>
            </a:pPr>
            <a:r>
              <a:rPr lang="it" sz="1700"/>
              <a:t>K</a:t>
            </a:r>
            <a:r>
              <a:rPr lang="it" sz="1700"/>
              <a:t>ey tasks:</a:t>
            </a:r>
            <a:endParaRPr sz="1700"/>
          </a:p>
          <a:p>
            <a:pPr indent="-336550" lvl="0" marL="457200" rtl="0" algn="l">
              <a:lnSpc>
                <a:spcPct val="115000"/>
              </a:lnSpc>
              <a:spcBef>
                <a:spcPts val="1200"/>
              </a:spcBef>
              <a:spcAft>
                <a:spcPts val="0"/>
              </a:spcAft>
              <a:buSzPts val="1700"/>
              <a:buChar char="●"/>
            </a:pPr>
            <a:r>
              <a:rPr lang="it" sz="1700"/>
              <a:t>Requirements definition</a:t>
            </a:r>
            <a:endParaRPr sz="1700"/>
          </a:p>
          <a:p>
            <a:pPr indent="-336550" lvl="0" marL="457200" rtl="0" algn="l">
              <a:lnSpc>
                <a:spcPct val="115000"/>
              </a:lnSpc>
              <a:spcBef>
                <a:spcPts val="0"/>
              </a:spcBef>
              <a:spcAft>
                <a:spcPts val="0"/>
              </a:spcAft>
              <a:buSzPts val="1700"/>
              <a:buChar char="●"/>
            </a:pPr>
            <a:r>
              <a:rPr lang="it" sz="1700"/>
              <a:t>User stories definition</a:t>
            </a:r>
            <a:endParaRPr sz="1700"/>
          </a:p>
          <a:p>
            <a:pPr indent="-336550" lvl="0" marL="457200" rtl="0" algn="l">
              <a:lnSpc>
                <a:spcPct val="115000"/>
              </a:lnSpc>
              <a:spcBef>
                <a:spcPts val="0"/>
              </a:spcBef>
              <a:spcAft>
                <a:spcPts val="0"/>
              </a:spcAft>
              <a:buSzPts val="1700"/>
              <a:buChar char="●"/>
            </a:pPr>
            <a:r>
              <a:rPr lang="it" sz="1700"/>
              <a:t>Mock up</a:t>
            </a:r>
            <a:endParaRPr sz="1700"/>
          </a:p>
          <a:p>
            <a:pPr indent="-336550" lvl="0" marL="457200" rtl="0" algn="l">
              <a:lnSpc>
                <a:spcPct val="115000"/>
              </a:lnSpc>
              <a:spcBef>
                <a:spcPts val="0"/>
              </a:spcBef>
              <a:spcAft>
                <a:spcPts val="0"/>
              </a:spcAft>
              <a:buSzPts val="1700"/>
              <a:buChar char="●"/>
            </a:pPr>
            <a:r>
              <a:rPr lang="it" sz="1700"/>
              <a:t>Architecture definition</a:t>
            </a:r>
            <a:endParaRPr sz="1700"/>
          </a:p>
        </p:txBody>
      </p:sp>
      <p:sp>
        <p:nvSpPr>
          <p:cNvPr id="211" name="Google Shape;211;p36"/>
          <p:cNvSpPr txBox="1"/>
          <p:nvPr>
            <p:ph idx="2" type="body"/>
          </p:nvPr>
        </p:nvSpPr>
        <p:spPr>
          <a:xfrm>
            <a:off x="4609525" y="1234050"/>
            <a:ext cx="4263900" cy="3334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1700"/>
              <a:t>Authentication Service Development</a:t>
            </a:r>
            <a:endParaRPr b="1" sz="1700"/>
          </a:p>
          <a:p>
            <a:pPr indent="0" lvl="0" marL="0" rtl="0" algn="l">
              <a:lnSpc>
                <a:spcPct val="115000"/>
              </a:lnSpc>
              <a:spcBef>
                <a:spcPts val="0"/>
              </a:spcBef>
              <a:spcAft>
                <a:spcPts val="0"/>
              </a:spcAft>
              <a:buNone/>
            </a:pPr>
            <a:r>
              <a:t/>
            </a:r>
            <a:endParaRPr b="1"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rPr lang="it" sz="1700"/>
              <a:t>Key tasks:</a:t>
            </a:r>
            <a:endParaRPr sz="1700"/>
          </a:p>
          <a:p>
            <a:pPr indent="-336550" lvl="0" marL="457200" rtl="0" algn="l">
              <a:lnSpc>
                <a:spcPct val="115000"/>
              </a:lnSpc>
              <a:spcBef>
                <a:spcPts val="1200"/>
              </a:spcBef>
              <a:spcAft>
                <a:spcPts val="0"/>
              </a:spcAft>
              <a:buSzPts val="1700"/>
              <a:buChar char="●"/>
            </a:pPr>
            <a:r>
              <a:rPr lang="it" sz="1700"/>
              <a:t>DB configuration for Users</a:t>
            </a:r>
            <a:endParaRPr sz="1700"/>
          </a:p>
          <a:p>
            <a:pPr indent="-336550" lvl="0" marL="457200" rtl="0" algn="l">
              <a:lnSpc>
                <a:spcPct val="115000"/>
              </a:lnSpc>
              <a:spcBef>
                <a:spcPts val="0"/>
              </a:spcBef>
              <a:spcAft>
                <a:spcPts val="0"/>
              </a:spcAft>
              <a:buSzPts val="1700"/>
              <a:buChar char="●"/>
            </a:pPr>
            <a:r>
              <a:rPr lang="it" sz="1700"/>
              <a:t>Login backend implementation</a:t>
            </a:r>
            <a:endParaRPr sz="1700"/>
          </a:p>
          <a:p>
            <a:pPr indent="-336550" lvl="0" marL="457200" rtl="0" algn="l">
              <a:lnSpc>
                <a:spcPct val="115000"/>
              </a:lnSpc>
              <a:spcBef>
                <a:spcPts val="0"/>
              </a:spcBef>
              <a:spcAft>
                <a:spcPts val="0"/>
              </a:spcAft>
              <a:buSzPts val="1700"/>
              <a:buChar char="●"/>
            </a:pPr>
            <a:r>
              <a:rPr lang="it" sz="1700"/>
              <a:t>Login and Registration Pages</a:t>
            </a:r>
            <a:endParaRPr sz="1700"/>
          </a:p>
          <a:p>
            <a:pPr indent="-336550" lvl="0" marL="457200" rtl="0" algn="l">
              <a:lnSpc>
                <a:spcPct val="115000"/>
              </a:lnSpc>
              <a:spcBef>
                <a:spcPts val="0"/>
              </a:spcBef>
              <a:spcAft>
                <a:spcPts val="0"/>
              </a:spcAft>
              <a:buSzPts val="1700"/>
              <a:buChar char="●"/>
            </a:pPr>
            <a:r>
              <a:rPr lang="it" sz="1700"/>
              <a:t>Admin Panel Page- User Management Section</a:t>
            </a:r>
            <a:endParaRPr sz="1700"/>
          </a:p>
        </p:txBody>
      </p:sp>
      <p:sp>
        <p:nvSpPr>
          <p:cNvPr id="212" name="Google Shape;212;p36"/>
          <p:cNvSpPr txBox="1"/>
          <p:nvPr/>
        </p:nvSpPr>
        <p:spPr>
          <a:xfrm>
            <a:off x="4609525" y="431225"/>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2700">
                <a:solidFill>
                  <a:schemeClr val="dk2"/>
                </a:solidFill>
                <a:highlight>
                  <a:schemeClr val="dk1"/>
                </a:highlight>
                <a:latin typeface="Oswald"/>
                <a:ea typeface="Oswald"/>
                <a:cs typeface="Oswald"/>
                <a:sym typeface="Oswald"/>
              </a:rPr>
              <a:t>SPRINT 2</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404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SPRINT 3</a:t>
            </a:r>
            <a:endParaRPr/>
          </a:p>
        </p:txBody>
      </p:sp>
      <p:sp>
        <p:nvSpPr>
          <p:cNvPr id="218" name="Google Shape;218;p37"/>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1700"/>
              <a:t>Monster </a:t>
            </a:r>
            <a:r>
              <a:rPr b="1" lang="it" sz="1700"/>
              <a:t>Service Development</a:t>
            </a:r>
            <a:endParaRPr b="1" sz="1700"/>
          </a:p>
          <a:p>
            <a:pPr indent="0" lvl="0" marL="0" rtl="0" algn="l">
              <a:lnSpc>
                <a:spcPct val="115000"/>
              </a:lnSpc>
              <a:spcBef>
                <a:spcPts val="0"/>
              </a:spcBef>
              <a:spcAft>
                <a:spcPts val="0"/>
              </a:spcAft>
              <a:buNone/>
            </a:pPr>
            <a:r>
              <a:t/>
            </a:r>
            <a:endParaRPr b="1" sz="1700"/>
          </a:p>
          <a:p>
            <a:pPr indent="0" lvl="0" marL="0" rtl="0" algn="l">
              <a:lnSpc>
                <a:spcPct val="115000"/>
              </a:lnSpc>
              <a:spcBef>
                <a:spcPts val="0"/>
              </a:spcBef>
              <a:spcAft>
                <a:spcPts val="0"/>
              </a:spcAft>
              <a:buClr>
                <a:schemeClr val="dk2"/>
              </a:buClr>
              <a:buSzPts val="1100"/>
              <a:buFont typeface="Arial"/>
              <a:buNone/>
            </a:pPr>
            <a:r>
              <a:t/>
            </a:r>
            <a:endParaRPr b="1" sz="1700"/>
          </a:p>
          <a:p>
            <a:pPr indent="0" lvl="0" marL="0" rtl="0" algn="l">
              <a:lnSpc>
                <a:spcPct val="115000"/>
              </a:lnSpc>
              <a:spcBef>
                <a:spcPts val="0"/>
              </a:spcBef>
              <a:spcAft>
                <a:spcPts val="0"/>
              </a:spcAft>
              <a:buNone/>
            </a:pPr>
            <a:r>
              <a:rPr lang="it" sz="1700"/>
              <a:t>Key tasks:</a:t>
            </a:r>
            <a:endParaRPr sz="1700"/>
          </a:p>
          <a:p>
            <a:pPr indent="-336550" lvl="0" marL="457200" rtl="0" algn="l">
              <a:lnSpc>
                <a:spcPct val="115000"/>
              </a:lnSpc>
              <a:spcBef>
                <a:spcPts val="1200"/>
              </a:spcBef>
              <a:spcAft>
                <a:spcPts val="0"/>
              </a:spcAft>
              <a:buSzPts val="1700"/>
              <a:buChar char="●"/>
            </a:pPr>
            <a:r>
              <a:rPr lang="it" sz="1700"/>
              <a:t>DB configuration for Monsters</a:t>
            </a:r>
            <a:endParaRPr sz="1700"/>
          </a:p>
          <a:p>
            <a:pPr indent="-336550" lvl="0" marL="457200" rtl="0" algn="l">
              <a:lnSpc>
                <a:spcPct val="115000"/>
              </a:lnSpc>
              <a:spcBef>
                <a:spcPts val="0"/>
              </a:spcBef>
              <a:spcAft>
                <a:spcPts val="0"/>
              </a:spcAft>
              <a:buSzPts val="1700"/>
              <a:buChar char="●"/>
            </a:pPr>
            <a:r>
              <a:rPr lang="it" sz="1700"/>
              <a:t>Backend implementation</a:t>
            </a:r>
            <a:endParaRPr sz="1700"/>
          </a:p>
          <a:p>
            <a:pPr indent="-336550" lvl="0" marL="457200" rtl="0" algn="l">
              <a:lnSpc>
                <a:spcPct val="115000"/>
              </a:lnSpc>
              <a:spcBef>
                <a:spcPts val="0"/>
              </a:spcBef>
              <a:spcAft>
                <a:spcPts val="0"/>
              </a:spcAft>
              <a:buSzPts val="1700"/>
              <a:buChar char="●"/>
            </a:pPr>
            <a:r>
              <a:rPr lang="it" sz="1700"/>
              <a:t>Admin Panel Page - Monster Management Section</a:t>
            </a:r>
            <a:endParaRPr sz="1700"/>
          </a:p>
        </p:txBody>
      </p:sp>
      <p:sp>
        <p:nvSpPr>
          <p:cNvPr id="219" name="Google Shape;219;p37"/>
          <p:cNvSpPr txBox="1"/>
          <p:nvPr>
            <p:ph idx="2" type="body"/>
          </p:nvPr>
        </p:nvSpPr>
        <p:spPr>
          <a:xfrm>
            <a:off x="4680200" y="1234050"/>
            <a:ext cx="4169700" cy="3334800"/>
          </a:xfrm>
          <a:prstGeom prst="rect">
            <a:avLst/>
          </a:prstGeom>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None/>
            </a:pPr>
            <a:r>
              <a:rPr b="1" lang="it" sz="1700"/>
              <a:t>Item</a:t>
            </a:r>
            <a:r>
              <a:rPr b="1" lang="it" sz="1700"/>
              <a:t> Service Development</a:t>
            </a:r>
            <a:endParaRPr b="1"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rPr lang="it" sz="1700"/>
              <a:t>Key tasks:</a:t>
            </a:r>
            <a:endParaRPr sz="1700"/>
          </a:p>
          <a:p>
            <a:pPr indent="-336550" lvl="0" marL="457200" rtl="0" algn="l">
              <a:lnSpc>
                <a:spcPct val="115000"/>
              </a:lnSpc>
              <a:spcBef>
                <a:spcPts val="1200"/>
              </a:spcBef>
              <a:spcAft>
                <a:spcPts val="0"/>
              </a:spcAft>
              <a:buSzPts val="1700"/>
              <a:buChar char="●"/>
            </a:pPr>
            <a:r>
              <a:rPr lang="it" sz="1700"/>
              <a:t>DB configuration for Items</a:t>
            </a:r>
            <a:endParaRPr sz="1700"/>
          </a:p>
          <a:p>
            <a:pPr indent="-336550" lvl="0" marL="457200" rtl="0" algn="l">
              <a:lnSpc>
                <a:spcPct val="115000"/>
              </a:lnSpc>
              <a:spcBef>
                <a:spcPts val="0"/>
              </a:spcBef>
              <a:spcAft>
                <a:spcPts val="0"/>
              </a:spcAft>
              <a:buSzPts val="1700"/>
              <a:buChar char="●"/>
            </a:pPr>
            <a:r>
              <a:rPr lang="it" sz="1700"/>
              <a:t>Backend implementation</a:t>
            </a:r>
            <a:endParaRPr sz="1700"/>
          </a:p>
          <a:p>
            <a:pPr indent="-336550" lvl="0" marL="457200" rtl="0" algn="l">
              <a:lnSpc>
                <a:spcPct val="115000"/>
              </a:lnSpc>
              <a:spcBef>
                <a:spcPts val="0"/>
              </a:spcBef>
              <a:spcAft>
                <a:spcPts val="0"/>
              </a:spcAft>
              <a:buSzPts val="1700"/>
              <a:buChar char="●"/>
            </a:pPr>
            <a:r>
              <a:rPr lang="it" sz="1700"/>
              <a:t>Admin Panel Page- Item Management Section</a:t>
            </a:r>
            <a:endParaRPr sz="17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20" name="Google Shape;220;p37"/>
          <p:cNvSpPr txBox="1"/>
          <p:nvPr/>
        </p:nvSpPr>
        <p:spPr>
          <a:xfrm>
            <a:off x="4617375" y="431225"/>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2700">
                <a:solidFill>
                  <a:schemeClr val="dk2"/>
                </a:solidFill>
                <a:highlight>
                  <a:schemeClr val="dk1"/>
                </a:highlight>
                <a:latin typeface="Oswald"/>
                <a:ea typeface="Oswald"/>
                <a:cs typeface="Oswald"/>
                <a:sym typeface="Oswald"/>
              </a:rPr>
              <a:t>SPRINT 4</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8"/>
          <p:cNvSpPr txBox="1"/>
          <p:nvPr>
            <p:ph type="title"/>
          </p:nvPr>
        </p:nvSpPr>
        <p:spPr>
          <a:xfrm>
            <a:off x="311700" y="445025"/>
            <a:ext cx="404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SPRINT 5</a:t>
            </a:r>
            <a:endParaRPr/>
          </a:p>
        </p:txBody>
      </p:sp>
      <p:sp>
        <p:nvSpPr>
          <p:cNvPr id="226" name="Google Shape;226;p38"/>
          <p:cNvSpPr txBox="1"/>
          <p:nvPr>
            <p:ph idx="1" type="body"/>
          </p:nvPr>
        </p:nvSpPr>
        <p:spPr>
          <a:xfrm>
            <a:off x="311700" y="1234050"/>
            <a:ext cx="3999900" cy="333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it" sz="1700"/>
              <a:t>Game Service </a:t>
            </a:r>
            <a:r>
              <a:rPr b="1" lang="it" sz="1700"/>
              <a:t>Initialization</a:t>
            </a:r>
            <a:endParaRPr b="1" sz="1700"/>
          </a:p>
          <a:p>
            <a:pPr indent="0" lvl="0" marL="0" rtl="0" algn="l">
              <a:lnSpc>
                <a:spcPct val="115000"/>
              </a:lnSpc>
              <a:spcBef>
                <a:spcPts val="0"/>
              </a:spcBef>
              <a:spcAft>
                <a:spcPts val="0"/>
              </a:spcAft>
              <a:buNone/>
            </a:pPr>
            <a:r>
              <a:t/>
            </a:r>
            <a:endParaRPr b="1" sz="1700"/>
          </a:p>
          <a:p>
            <a:pPr indent="0" lvl="0" marL="0" rtl="0" algn="l">
              <a:lnSpc>
                <a:spcPct val="115000"/>
              </a:lnSpc>
              <a:spcBef>
                <a:spcPts val="0"/>
              </a:spcBef>
              <a:spcAft>
                <a:spcPts val="0"/>
              </a:spcAft>
              <a:buNone/>
            </a:pPr>
            <a:r>
              <a:rPr lang="it" sz="1700"/>
              <a:t>Key tasks:</a:t>
            </a:r>
            <a:endParaRPr sz="1700"/>
          </a:p>
          <a:p>
            <a:pPr indent="-336550" lvl="0" marL="457200" rtl="0" algn="l">
              <a:lnSpc>
                <a:spcPct val="115000"/>
              </a:lnSpc>
              <a:spcBef>
                <a:spcPts val="1200"/>
              </a:spcBef>
              <a:spcAft>
                <a:spcPts val="0"/>
              </a:spcAft>
              <a:buSzPts val="1700"/>
              <a:buChar char="●"/>
            </a:pPr>
            <a:r>
              <a:rPr lang="it" sz="1700"/>
              <a:t>DB configuration for Encounters</a:t>
            </a:r>
            <a:endParaRPr sz="1700"/>
          </a:p>
          <a:p>
            <a:pPr indent="-336550" lvl="0" marL="457200" rtl="0" algn="l">
              <a:lnSpc>
                <a:spcPct val="115000"/>
              </a:lnSpc>
              <a:spcBef>
                <a:spcPts val="0"/>
              </a:spcBef>
              <a:spcAft>
                <a:spcPts val="0"/>
              </a:spcAft>
              <a:buSzPts val="1700"/>
              <a:buChar char="●"/>
            </a:pPr>
            <a:r>
              <a:rPr lang="it" sz="1700"/>
              <a:t>Partial game microservice implementation</a:t>
            </a:r>
            <a:endParaRPr sz="1700"/>
          </a:p>
          <a:p>
            <a:pPr indent="-336550" lvl="0" marL="457200" rtl="0" algn="l">
              <a:lnSpc>
                <a:spcPct val="115000"/>
              </a:lnSpc>
              <a:spcBef>
                <a:spcPts val="0"/>
              </a:spcBef>
              <a:spcAft>
                <a:spcPts val="0"/>
              </a:spcAft>
              <a:buSzPts val="1700"/>
              <a:buChar char="●"/>
            </a:pPr>
            <a:r>
              <a:rPr lang="it" sz="1700"/>
              <a:t>Implementation of Inter-Service Communication</a:t>
            </a:r>
            <a:endParaRPr sz="1700"/>
          </a:p>
          <a:p>
            <a:pPr indent="-336550" lvl="0" marL="457200" rtl="0" algn="l">
              <a:lnSpc>
                <a:spcPct val="115000"/>
              </a:lnSpc>
              <a:spcBef>
                <a:spcPts val="0"/>
              </a:spcBef>
              <a:spcAft>
                <a:spcPts val="0"/>
              </a:spcAft>
              <a:buSzPts val="1700"/>
              <a:buChar char="●"/>
            </a:pPr>
            <a:r>
              <a:rPr lang="it" sz="1700"/>
              <a:t>Home Page</a:t>
            </a:r>
            <a:endParaRPr sz="1700"/>
          </a:p>
          <a:p>
            <a:pPr indent="-336550" lvl="0" marL="457200" rtl="0" algn="l">
              <a:lnSpc>
                <a:spcPct val="115000"/>
              </a:lnSpc>
              <a:spcBef>
                <a:spcPts val="0"/>
              </a:spcBef>
              <a:spcAft>
                <a:spcPts val="0"/>
              </a:spcAft>
              <a:buSzPts val="1700"/>
              <a:buChar char="●"/>
            </a:pPr>
            <a:r>
              <a:rPr lang="it" sz="1700"/>
              <a:t>Encounter Page</a:t>
            </a:r>
            <a:r>
              <a:rPr lang="it" sz="1700"/>
              <a:t> </a:t>
            </a:r>
            <a:endParaRPr sz="1700"/>
          </a:p>
        </p:txBody>
      </p:sp>
      <p:sp>
        <p:nvSpPr>
          <p:cNvPr id="227" name="Google Shape;227;p38"/>
          <p:cNvSpPr txBox="1"/>
          <p:nvPr>
            <p:ph idx="2" type="body"/>
          </p:nvPr>
        </p:nvSpPr>
        <p:spPr>
          <a:xfrm>
            <a:off x="4680200" y="1234050"/>
            <a:ext cx="4169700" cy="3334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1700"/>
              <a:t>Game </a:t>
            </a:r>
            <a:r>
              <a:rPr b="1" lang="it" sz="1700"/>
              <a:t>Service Development (Collection)</a:t>
            </a:r>
            <a:endParaRPr b="1" sz="1700"/>
          </a:p>
          <a:p>
            <a:pPr indent="0" lvl="0" marL="0" rtl="0" algn="l">
              <a:lnSpc>
                <a:spcPct val="115000"/>
              </a:lnSpc>
              <a:spcBef>
                <a:spcPts val="0"/>
              </a:spcBef>
              <a:spcAft>
                <a:spcPts val="0"/>
              </a:spcAft>
              <a:buNone/>
            </a:pPr>
            <a:r>
              <a:t/>
            </a:r>
            <a:endParaRPr b="1" sz="1700"/>
          </a:p>
          <a:p>
            <a:pPr indent="0" lvl="0" marL="0" rtl="0" algn="l">
              <a:lnSpc>
                <a:spcPct val="115000"/>
              </a:lnSpc>
              <a:spcBef>
                <a:spcPts val="0"/>
              </a:spcBef>
              <a:spcAft>
                <a:spcPts val="0"/>
              </a:spcAft>
              <a:buNone/>
            </a:pPr>
            <a:r>
              <a:rPr lang="it" sz="1700"/>
              <a:t>Key tasks:</a:t>
            </a:r>
            <a:endParaRPr sz="1700"/>
          </a:p>
          <a:p>
            <a:pPr indent="-336550" lvl="0" marL="457200" rtl="0" algn="l">
              <a:lnSpc>
                <a:spcPct val="115000"/>
              </a:lnSpc>
              <a:spcBef>
                <a:spcPts val="1200"/>
              </a:spcBef>
              <a:spcAft>
                <a:spcPts val="0"/>
              </a:spcAft>
              <a:buSzPts val="1700"/>
              <a:buChar char="●"/>
            </a:pPr>
            <a:r>
              <a:rPr lang="it" sz="1700"/>
              <a:t>DB configuration for Collection</a:t>
            </a:r>
            <a:endParaRPr sz="1700"/>
          </a:p>
          <a:p>
            <a:pPr indent="-336550" lvl="0" marL="457200" rtl="0" algn="l">
              <a:lnSpc>
                <a:spcPct val="115000"/>
              </a:lnSpc>
              <a:spcBef>
                <a:spcPts val="0"/>
              </a:spcBef>
              <a:spcAft>
                <a:spcPts val="0"/>
              </a:spcAft>
              <a:buSzPts val="1700"/>
              <a:buChar char="●"/>
            </a:pPr>
            <a:r>
              <a:rPr lang="it" sz="1700"/>
              <a:t>Extending Game microservice (monster collection)</a:t>
            </a:r>
            <a:endParaRPr sz="1700"/>
          </a:p>
          <a:p>
            <a:pPr indent="-336550" lvl="0" marL="457200" rtl="0" algn="l">
              <a:lnSpc>
                <a:spcPct val="115000"/>
              </a:lnSpc>
              <a:spcBef>
                <a:spcPts val="0"/>
              </a:spcBef>
              <a:spcAft>
                <a:spcPts val="0"/>
              </a:spcAft>
              <a:buSzPts val="1700"/>
              <a:buChar char="●"/>
            </a:pPr>
            <a:r>
              <a:rPr lang="it" sz="1700"/>
              <a:t>Collection page</a:t>
            </a:r>
            <a:endParaRPr sz="1700"/>
          </a:p>
        </p:txBody>
      </p:sp>
      <p:sp>
        <p:nvSpPr>
          <p:cNvPr id="228" name="Google Shape;228;p38"/>
          <p:cNvSpPr txBox="1"/>
          <p:nvPr/>
        </p:nvSpPr>
        <p:spPr>
          <a:xfrm>
            <a:off x="4617375" y="431225"/>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2700">
                <a:solidFill>
                  <a:schemeClr val="dk2"/>
                </a:solidFill>
                <a:highlight>
                  <a:schemeClr val="dk1"/>
                </a:highlight>
                <a:latin typeface="Oswald"/>
                <a:ea typeface="Oswald"/>
                <a:cs typeface="Oswald"/>
                <a:sym typeface="Oswald"/>
              </a:rPr>
              <a:t>SPRINT 6</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9"/>
          <p:cNvSpPr txBox="1"/>
          <p:nvPr>
            <p:ph type="title"/>
          </p:nvPr>
        </p:nvSpPr>
        <p:spPr>
          <a:xfrm>
            <a:off x="311700" y="445025"/>
            <a:ext cx="404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SPRINT 7</a:t>
            </a:r>
            <a:endParaRPr/>
          </a:p>
        </p:txBody>
      </p:sp>
      <p:sp>
        <p:nvSpPr>
          <p:cNvPr id="234" name="Google Shape;234;p39"/>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1700"/>
              <a:t>Game Service Development (Inventory)</a:t>
            </a:r>
            <a:endParaRPr b="1" sz="1700"/>
          </a:p>
          <a:p>
            <a:pPr indent="0" lvl="0" marL="0" rtl="0" algn="l">
              <a:lnSpc>
                <a:spcPct val="115000"/>
              </a:lnSpc>
              <a:spcBef>
                <a:spcPts val="0"/>
              </a:spcBef>
              <a:spcAft>
                <a:spcPts val="0"/>
              </a:spcAft>
              <a:buNone/>
            </a:pPr>
            <a:r>
              <a:t/>
            </a:r>
            <a:endParaRPr b="1" sz="1700"/>
          </a:p>
          <a:p>
            <a:pPr indent="0" lvl="0" marL="0" rtl="0" algn="l">
              <a:lnSpc>
                <a:spcPct val="115000"/>
              </a:lnSpc>
              <a:spcBef>
                <a:spcPts val="0"/>
              </a:spcBef>
              <a:spcAft>
                <a:spcPts val="0"/>
              </a:spcAft>
              <a:buNone/>
            </a:pPr>
            <a:r>
              <a:rPr lang="it" sz="1700"/>
              <a:t>Key tasks:</a:t>
            </a:r>
            <a:endParaRPr sz="1700"/>
          </a:p>
          <a:p>
            <a:pPr indent="-336550" lvl="0" marL="457200" rtl="0" algn="l">
              <a:lnSpc>
                <a:spcPct val="115000"/>
              </a:lnSpc>
              <a:spcBef>
                <a:spcPts val="1200"/>
              </a:spcBef>
              <a:spcAft>
                <a:spcPts val="0"/>
              </a:spcAft>
              <a:buSzPts val="1700"/>
              <a:buChar char="●"/>
            </a:pPr>
            <a:r>
              <a:rPr lang="it" sz="1700"/>
              <a:t>DB configuration for Inventory</a:t>
            </a:r>
            <a:endParaRPr sz="1700"/>
          </a:p>
          <a:p>
            <a:pPr indent="-336550" lvl="0" marL="457200" rtl="0" algn="l">
              <a:lnSpc>
                <a:spcPct val="115000"/>
              </a:lnSpc>
              <a:spcBef>
                <a:spcPts val="0"/>
              </a:spcBef>
              <a:spcAft>
                <a:spcPts val="0"/>
              </a:spcAft>
              <a:buSzPts val="1700"/>
              <a:buChar char="●"/>
            </a:pPr>
            <a:r>
              <a:rPr lang="it" sz="1700"/>
              <a:t>Extending Game microservice (inventory)</a:t>
            </a:r>
            <a:endParaRPr sz="1700"/>
          </a:p>
          <a:p>
            <a:pPr indent="-336550" lvl="0" marL="457200" rtl="0" algn="l">
              <a:lnSpc>
                <a:spcPct val="115000"/>
              </a:lnSpc>
              <a:spcBef>
                <a:spcPts val="0"/>
              </a:spcBef>
              <a:spcAft>
                <a:spcPts val="0"/>
              </a:spcAft>
              <a:buSzPts val="1700"/>
              <a:buChar char="●"/>
            </a:pPr>
            <a:r>
              <a:rPr lang="it" sz="1700"/>
              <a:t>Inventory page</a:t>
            </a:r>
            <a:endParaRPr sz="1700"/>
          </a:p>
        </p:txBody>
      </p:sp>
      <p:sp>
        <p:nvSpPr>
          <p:cNvPr id="235" name="Google Shape;235;p39"/>
          <p:cNvSpPr txBox="1"/>
          <p:nvPr>
            <p:ph idx="2" type="body"/>
          </p:nvPr>
        </p:nvSpPr>
        <p:spPr>
          <a:xfrm>
            <a:off x="4680200" y="1234050"/>
            <a:ext cx="3999900" cy="33348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1700"/>
              <a:t>Game Service Development </a:t>
            </a:r>
            <a:endParaRPr b="1" sz="1700"/>
          </a:p>
          <a:p>
            <a:pPr indent="0" lvl="0" marL="0" rtl="0" algn="l">
              <a:lnSpc>
                <a:spcPct val="115000"/>
              </a:lnSpc>
              <a:spcBef>
                <a:spcPts val="0"/>
              </a:spcBef>
              <a:spcAft>
                <a:spcPts val="0"/>
              </a:spcAft>
              <a:buNone/>
            </a:pPr>
            <a:r>
              <a:rPr b="1" lang="it" sz="1700"/>
              <a:t>(Statistics)</a:t>
            </a:r>
            <a:endParaRPr sz="1700"/>
          </a:p>
          <a:p>
            <a:pPr indent="0" lvl="0" marL="0" rtl="0" algn="l">
              <a:lnSpc>
                <a:spcPct val="115000"/>
              </a:lnSpc>
              <a:spcBef>
                <a:spcPts val="0"/>
              </a:spcBef>
              <a:spcAft>
                <a:spcPts val="0"/>
              </a:spcAft>
              <a:buNone/>
            </a:pPr>
            <a:r>
              <a:t/>
            </a:r>
            <a:endParaRPr sz="1700"/>
          </a:p>
          <a:p>
            <a:pPr indent="0" lvl="0" marL="0" rtl="0" algn="l">
              <a:lnSpc>
                <a:spcPct val="115000"/>
              </a:lnSpc>
              <a:spcBef>
                <a:spcPts val="0"/>
              </a:spcBef>
              <a:spcAft>
                <a:spcPts val="0"/>
              </a:spcAft>
              <a:buNone/>
            </a:pPr>
            <a:r>
              <a:rPr lang="it" sz="1700"/>
              <a:t>Key tasks:</a:t>
            </a:r>
            <a:endParaRPr sz="1700"/>
          </a:p>
          <a:p>
            <a:pPr indent="-336550" lvl="0" marL="457200" rtl="0" algn="l">
              <a:lnSpc>
                <a:spcPct val="115000"/>
              </a:lnSpc>
              <a:spcBef>
                <a:spcPts val="1200"/>
              </a:spcBef>
              <a:spcAft>
                <a:spcPts val="0"/>
              </a:spcAft>
              <a:buSzPts val="1700"/>
              <a:buChar char="●"/>
            </a:pPr>
            <a:r>
              <a:rPr lang="it" sz="1700"/>
              <a:t>DB configuration for Statistics</a:t>
            </a:r>
            <a:endParaRPr sz="1700"/>
          </a:p>
          <a:p>
            <a:pPr indent="-336550" lvl="0" marL="457200" rtl="0" algn="l">
              <a:lnSpc>
                <a:spcPct val="115000"/>
              </a:lnSpc>
              <a:spcBef>
                <a:spcPts val="0"/>
              </a:spcBef>
              <a:spcAft>
                <a:spcPts val="0"/>
              </a:spcAft>
              <a:buSzPts val="1700"/>
              <a:buChar char="●"/>
            </a:pPr>
            <a:r>
              <a:rPr lang="it" sz="1700"/>
              <a:t>Extending Game microservice (statistics)</a:t>
            </a:r>
            <a:endParaRPr sz="1700"/>
          </a:p>
          <a:p>
            <a:pPr indent="-336550" lvl="0" marL="457200" rtl="0" algn="l">
              <a:lnSpc>
                <a:spcPct val="115000"/>
              </a:lnSpc>
              <a:spcBef>
                <a:spcPts val="0"/>
              </a:spcBef>
              <a:spcAft>
                <a:spcPts val="0"/>
              </a:spcAft>
              <a:buSzPts val="1700"/>
              <a:buChar char="●"/>
            </a:pPr>
            <a:r>
              <a:rPr lang="it" sz="1700"/>
              <a:t>Statistics view</a:t>
            </a:r>
            <a:endParaRPr sz="1700"/>
          </a:p>
        </p:txBody>
      </p:sp>
      <p:sp>
        <p:nvSpPr>
          <p:cNvPr id="236" name="Google Shape;236;p39"/>
          <p:cNvSpPr txBox="1"/>
          <p:nvPr/>
        </p:nvSpPr>
        <p:spPr>
          <a:xfrm>
            <a:off x="4617375" y="431225"/>
            <a:ext cx="30000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2700">
                <a:solidFill>
                  <a:schemeClr val="dk2"/>
                </a:solidFill>
                <a:highlight>
                  <a:schemeClr val="dk1"/>
                </a:highlight>
                <a:latin typeface="Oswald"/>
                <a:ea typeface="Oswald"/>
                <a:cs typeface="Oswald"/>
                <a:sym typeface="Oswald"/>
              </a:rPr>
              <a:t>SPRINT 8</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Burndown Chart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 </a:t>
            </a:r>
            <a:endParaRPr/>
          </a:p>
        </p:txBody>
      </p:sp>
      <p:pic>
        <p:nvPicPr>
          <p:cNvPr id="242" name="Google Shape;242;p40" title="Picture1.png"/>
          <p:cNvPicPr preferRelativeResize="0"/>
          <p:nvPr/>
        </p:nvPicPr>
        <p:blipFill rotWithShape="1">
          <a:blip r:embed="rId3">
            <a:alphaModFix/>
          </a:blip>
          <a:srcRect b="7014" l="0" r="0" t="7023"/>
          <a:stretch/>
        </p:blipFill>
        <p:spPr>
          <a:xfrm>
            <a:off x="452700" y="1073575"/>
            <a:ext cx="8238602" cy="38625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1"/>
          <p:cNvSpPr txBox="1"/>
          <p:nvPr>
            <p:ph type="title"/>
          </p:nvPr>
        </p:nvSpPr>
        <p:spPr>
          <a:xfrm>
            <a:off x="344250" y="1403850"/>
            <a:ext cx="8455500" cy="2146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DEMO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